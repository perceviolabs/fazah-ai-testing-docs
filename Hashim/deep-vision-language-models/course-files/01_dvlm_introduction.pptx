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81" r:id="rId4"/>
    <p:sldId id="274" r:id="rId5"/>
    <p:sldId id="275" r:id="rId6"/>
    <p:sldId id="276" r:id="rId7"/>
    <p:sldId id="28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EF5F5"/>
    <a:srgbClr val="FFB461"/>
    <a:srgbClr val="E4E4E4"/>
    <a:srgbClr val="FEF2CB"/>
    <a:srgbClr val="5135FF"/>
    <a:srgbClr val="4A9FB6"/>
    <a:srgbClr val="B7D9E2"/>
    <a:srgbClr val="FFF4E8"/>
    <a:srgbClr val="F8C66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7" d="100"/>
          <a:sy n="137" d="100"/>
        </p:scale>
        <p:origin x="340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33A9FA1-8723-42AB-8352-ACE31BFB9F04}" type="datetimeFigureOut">
              <a:rPr lang="en-US" smtClean="0"/>
              <a:t>1/24/2026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FCEB6C-7374-42F7-9615-7BF9D99FA48B}" type="slidenum">
              <a:rPr lang="en-US" smtClean="0"/>
              <a:t>‹#›</a:t>
            </a:fld>
            <a:endParaRPr lang="en-US"/>
          </a:p>
        </p:txBody>
      </p:sp>
    </p:spTree>
    <p:extLst>
      <p:ext uri="{BB962C8B-B14F-4D97-AF65-F5344CB8AC3E}">
        <p14:creationId xmlns:p14="http://schemas.microsoft.com/office/powerpoint/2010/main" val="819444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3A9FA1-8723-42AB-8352-ACE31BFB9F04}" type="datetimeFigureOut">
              <a:rPr lang="en-US" smtClean="0"/>
              <a:t>1/24/2026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FCEB6C-7374-42F7-9615-7BF9D99FA48B}" type="slidenum">
              <a:rPr lang="en-US" smtClean="0"/>
              <a:t>‹#›</a:t>
            </a:fld>
            <a:endParaRPr lang="en-US"/>
          </a:p>
        </p:txBody>
      </p:sp>
    </p:spTree>
    <p:extLst>
      <p:ext uri="{BB962C8B-B14F-4D97-AF65-F5344CB8AC3E}">
        <p14:creationId xmlns:p14="http://schemas.microsoft.com/office/powerpoint/2010/main" val="449270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33A9FA1-8723-42AB-8352-ACE31BFB9F04}" type="datetimeFigureOut">
              <a:rPr lang="en-US" smtClean="0"/>
              <a:t>1/24/2026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FCEB6C-7374-42F7-9615-7BF9D99FA48B}" type="slidenum">
              <a:rPr lang="en-US" smtClean="0"/>
              <a:t>‹#›</a:t>
            </a:fld>
            <a:endParaRPr lang="en-US"/>
          </a:p>
        </p:txBody>
      </p:sp>
    </p:spTree>
    <p:extLst>
      <p:ext uri="{BB962C8B-B14F-4D97-AF65-F5344CB8AC3E}">
        <p14:creationId xmlns:p14="http://schemas.microsoft.com/office/powerpoint/2010/main" val="4225094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33A9FA1-8723-42AB-8352-ACE31BFB9F04}" type="datetimeFigureOut">
              <a:rPr lang="en-US" smtClean="0"/>
              <a:t>1/24/2026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FCEB6C-7374-42F7-9615-7BF9D99FA48B}" type="slidenum">
              <a:rPr lang="en-US" smtClean="0"/>
              <a:t>‹#›</a:t>
            </a:fld>
            <a:endParaRPr lang="en-US"/>
          </a:p>
        </p:txBody>
      </p:sp>
    </p:spTree>
    <p:extLst>
      <p:ext uri="{BB962C8B-B14F-4D97-AF65-F5344CB8AC3E}">
        <p14:creationId xmlns:p14="http://schemas.microsoft.com/office/powerpoint/2010/main" val="3699345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33A9FA1-8723-42AB-8352-ACE31BFB9F04}" type="datetimeFigureOut">
              <a:rPr lang="en-US" smtClean="0"/>
              <a:t>1/24/2026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CFCEB6C-7374-42F7-9615-7BF9D99FA48B}" type="slidenum">
              <a:rPr lang="en-US" smtClean="0"/>
              <a:t>‹#›</a:t>
            </a:fld>
            <a:endParaRPr lang="en-US"/>
          </a:p>
        </p:txBody>
      </p:sp>
    </p:spTree>
    <p:extLst>
      <p:ext uri="{BB962C8B-B14F-4D97-AF65-F5344CB8AC3E}">
        <p14:creationId xmlns:p14="http://schemas.microsoft.com/office/powerpoint/2010/main" val="2652794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33A9FA1-8723-42AB-8352-ACE31BFB9F04}" type="datetimeFigureOut">
              <a:rPr lang="en-US" smtClean="0"/>
              <a:t>1/24/2026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CFCEB6C-7374-42F7-9615-7BF9D99FA48B}" type="slidenum">
              <a:rPr lang="en-US" smtClean="0"/>
              <a:t>‹#›</a:t>
            </a:fld>
            <a:endParaRPr lang="en-US"/>
          </a:p>
        </p:txBody>
      </p:sp>
    </p:spTree>
    <p:extLst>
      <p:ext uri="{BB962C8B-B14F-4D97-AF65-F5344CB8AC3E}">
        <p14:creationId xmlns:p14="http://schemas.microsoft.com/office/powerpoint/2010/main" val="1309119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3A9FA1-8723-42AB-8352-ACE31BFB9F04}" type="datetimeFigureOut">
              <a:rPr lang="en-US" smtClean="0"/>
              <a:t>1/24/2026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CFCEB6C-7374-42F7-9615-7BF9D99FA48B}" type="slidenum">
              <a:rPr lang="en-US" smtClean="0"/>
              <a:t>‹#›</a:t>
            </a:fld>
            <a:endParaRPr lang="en-US"/>
          </a:p>
        </p:txBody>
      </p:sp>
    </p:spTree>
    <p:extLst>
      <p:ext uri="{BB962C8B-B14F-4D97-AF65-F5344CB8AC3E}">
        <p14:creationId xmlns:p14="http://schemas.microsoft.com/office/powerpoint/2010/main" val="3541231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33A9FA1-8723-42AB-8352-ACE31BFB9F04}" type="datetimeFigureOut">
              <a:rPr lang="en-US" smtClean="0"/>
              <a:t>1/24/2026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FCEB6C-7374-42F7-9615-7BF9D99FA48B}" type="slidenum">
              <a:rPr lang="en-US" smtClean="0"/>
              <a:t>‹#›</a:t>
            </a:fld>
            <a:endParaRPr lang="en-US"/>
          </a:p>
        </p:txBody>
      </p:sp>
    </p:spTree>
    <p:extLst>
      <p:ext uri="{BB962C8B-B14F-4D97-AF65-F5344CB8AC3E}">
        <p14:creationId xmlns:p14="http://schemas.microsoft.com/office/powerpoint/2010/main" val="2913143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33A9FA1-8723-42AB-8352-ACE31BFB9F04}" type="datetimeFigureOut">
              <a:rPr lang="en-US" smtClean="0"/>
              <a:t>1/24/2026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FCEB6C-7374-42F7-9615-7BF9D99FA48B}" type="slidenum">
              <a:rPr lang="en-US" smtClean="0"/>
              <a:t>‹#›</a:t>
            </a:fld>
            <a:endParaRPr lang="en-US"/>
          </a:p>
        </p:txBody>
      </p:sp>
    </p:spTree>
    <p:extLst>
      <p:ext uri="{BB962C8B-B14F-4D97-AF65-F5344CB8AC3E}">
        <p14:creationId xmlns:p14="http://schemas.microsoft.com/office/powerpoint/2010/main" val="2364495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3A9FA1-8723-42AB-8352-ACE31BFB9F04}" type="datetimeFigureOut">
              <a:rPr lang="en-US" smtClean="0"/>
              <a:t>1/24/2026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FCEB6C-7374-42F7-9615-7BF9D99FA48B}" type="slidenum">
              <a:rPr lang="en-US" smtClean="0"/>
              <a:t>‹#›</a:t>
            </a:fld>
            <a:endParaRPr lang="en-US"/>
          </a:p>
        </p:txBody>
      </p:sp>
    </p:spTree>
    <p:extLst>
      <p:ext uri="{BB962C8B-B14F-4D97-AF65-F5344CB8AC3E}">
        <p14:creationId xmlns:p14="http://schemas.microsoft.com/office/powerpoint/2010/main" val="3517807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3A9FA1-8723-42AB-8352-ACE31BFB9F04}" type="datetimeFigureOut">
              <a:rPr lang="en-US" smtClean="0"/>
              <a:t>1/24/2026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FCEB6C-7374-42F7-9615-7BF9D99FA48B}" type="slidenum">
              <a:rPr lang="en-US" smtClean="0"/>
              <a:t>‹#›</a:t>
            </a:fld>
            <a:endParaRPr lang="en-US"/>
          </a:p>
        </p:txBody>
      </p:sp>
    </p:spTree>
    <p:extLst>
      <p:ext uri="{BB962C8B-B14F-4D97-AF65-F5344CB8AC3E}">
        <p14:creationId xmlns:p14="http://schemas.microsoft.com/office/powerpoint/2010/main" val="3076048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3A9FA1-8723-42AB-8352-ACE31BFB9F04}" type="datetimeFigureOut">
              <a:rPr lang="en-US" smtClean="0"/>
              <a:t>1/24/2026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FCEB6C-7374-42F7-9615-7BF9D99FA48B}" type="slidenum">
              <a:rPr lang="en-US" smtClean="0"/>
              <a:t>‹#›</a:t>
            </a:fld>
            <a:endParaRPr lang="en-US"/>
          </a:p>
        </p:txBody>
      </p:sp>
    </p:spTree>
    <p:extLst>
      <p:ext uri="{BB962C8B-B14F-4D97-AF65-F5344CB8AC3E}">
        <p14:creationId xmlns:p14="http://schemas.microsoft.com/office/powerpoint/2010/main" val="3858629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hyperlink" Target="https://diffusion.kaist.ac.kr/" TargetMode="External"/><Relationship Id="rId3" Type="http://schemas.openxmlformats.org/officeDocument/2006/relationships/hyperlink" Target="https://arxiv.org/abs/2506.02070" TargetMode="External"/><Relationship Id="rId7" Type="http://schemas.openxmlformats.org/officeDocument/2006/relationships/hyperlink" Target="https://diffusion.csail.mit.edu/2026/index.html" TargetMode="External"/><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hyperlink" Target="https://stanford-cs336.github.io/spring2025/" TargetMode="External"/><Relationship Id="rId11" Type="http://schemas.openxmlformats.org/officeDocument/2006/relationships/hyperlink" Target="https://web.stanford.edu/class/archive/cs/cs224n/cs224n.1184/syllabus.html" TargetMode="External"/><Relationship Id="rId5" Type="http://schemas.openxmlformats.org/officeDocument/2006/relationships/hyperlink" Target="https://arxiv.org/abs/2401.13601" TargetMode="External"/><Relationship Id="rId10" Type="http://schemas.openxmlformats.org/officeDocument/2006/relationships/hyperlink" Target="https://cmu-mmml.github.io/fall2024/" TargetMode="External"/><Relationship Id="rId4" Type="http://schemas.openxmlformats.org/officeDocument/2006/relationships/hyperlink" Target="https://arxiv.org/abs/2510.21890" TargetMode="External"/><Relationship Id="rId9" Type="http://schemas.openxmlformats.org/officeDocument/2006/relationships/hyperlink" Target="https://github.com/ZHZisZZ/dllm"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Logo, company name&#10;&#10;Description automatically generated">
            <a:extLst>
              <a:ext uri="{FF2B5EF4-FFF2-40B4-BE49-F238E27FC236}">
                <a16:creationId xmlns:a16="http://schemas.microsoft.com/office/drawing/2014/main" id="{7ECAB422-447E-4BB9-9003-F002FAE38C7A}"/>
              </a:ext>
            </a:extLst>
          </p:cNvPr>
          <p:cNvPicPr>
            <a:picLocks noChangeAspect="1"/>
          </p:cNvPicPr>
          <p:nvPr/>
        </p:nvPicPr>
        <p:blipFill rotWithShape="1">
          <a:blip r:embed="rId2">
            <a:extLst>
              <a:ext uri="{28A0092B-C50C-407E-A947-70E740481C1C}">
                <a14:useLocalDpi xmlns:a14="http://schemas.microsoft.com/office/drawing/2010/main" val="0"/>
              </a:ext>
            </a:extLst>
          </a:blip>
          <a:srcRect t="33387" b="29643"/>
          <a:stretch/>
        </p:blipFill>
        <p:spPr>
          <a:xfrm>
            <a:off x="4883333" y="4855458"/>
            <a:ext cx="3117485" cy="1152526"/>
          </a:xfrm>
          <a:prstGeom prst="rect">
            <a:avLst/>
          </a:prstGeom>
        </p:spPr>
      </p:pic>
      <p:grpSp>
        <p:nvGrpSpPr>
          <p:cNvPr id="2" name="Group 1"/>
          <p:cNvGrpSpPr/>
          <p:nvPr/>
        </p:nvGrpSpPr>
        <p:grpSpPr>
          <a:xfrm>
            <a:off x="742949" y="1633115"/>
            <a:ext cx="9804401" cy="1077218"/>
            <a:chOff x="2241549" y="2273300"/>
            <a:chExt cx="9804401" cy="1077218"/>
          </a:xfrm>
        </p:grpSpPr>
        <p:sp>
          <p:nvSpPr>
            <p:cNvPr id="4" name="TextBox 3"/>
            <p:cNvSpPr txBox="1"/>
            <p:nvPr/>
          </p:nvSpPr>
          <p:spPr>
            <a:xfrm>
              <a:off x="3835400" y="2273300"/>
              <a:ext cx="8210550" cy="1077218"/>
            </a:xfrm>
            <a:prstGeom prst="rect">
              <a:avLst/>
            </a:prstGeom>
            <a:noFill/>
          </p:spPr>
          <p:txBody>
            <a:bodyPr wrap="square" rtlCol="0">
              <a:spAutoFit/>
            </a:bodyPr>
            <a:lstStyle/>
            <a:p>
              <a:pPr algn="ctr"/>
              <a:r>
                <a:rPr lang="en-US" sz="4000" b="1" dirty="0"/>
                <a:t>Deep Vision-Language Models</a:t>
              </a:r>
            </a:p>
            <a:p>
              <a:pPr algn="ctr"/>
              <a:r>
                <a:rPr lang="en-US" sz="2400" b="1" i="1" dirty="0">
                  <a:solidFill>
                    <a:srgbClr val="0033CC"/>
                  </a:solidFill>
                </a:rPr>
                <a:t>Spring 2026</a:t>
              </a:r>
            </a:p>
          </p:txBody>
        </p:sp>
        <p:sp>
          <p:nvSpPr>
            <p:cNvPr id="5" name="Rectangle 4"/>
            <p:cNvSpPr/>
            <p:nvPr/>
          </p:nvSpPr>
          <p:spPr>
            <a:xfrm>
              <a:off x="2241549" y="2342922"/>
              <a:ext cx="1665203" cy="707886"/>
            </a:xfrm>
            <a:prstGeom prst="rect">
              <a:avLst/>
            </a:prstGeom>
            <a:solidFill>
              <a:schemeClr val="tx1"/>
            </a:solidFill>
            <a:ln>
              <a:solidFill>
                <a:schemeClr val="tx1"/>
              </a:solidFill>
            </a:ln>
          </p:spPr>
          <p:txBody>
            <a:bodyPr wrap="square">
              <a:spAutoFit/>
            </a:bodyPr>
            <a:lstStyle/>
            <a:p>
              <a:r>
                <a:rPr lang="en-US" sz="4000" b="1" dirty="0">
                  <a:solidFill>
                    <a:schemeClr val="bg1"/>
                  </a:solidFill>
                  <a:effectLst>
                    <a:outerShdw blurRad="38100" dist="38100" dir="2700000" algn="tl">
                      <a:srgbClr val="000000">
                        <a:alpha val="43137"/>
                      </a:srgbClr>
                    </a:outerShdw>
                  </a:effectLst>
                </a:rPr>
                <a:t>AI 623</a:t>
              </a:r>
              <a:endParaRPr lang="en-US" sz="4000" dirty="0">
                <a:solidFill>
                  <a:schemeClr val="bg1"/>
                </a:solidFill>
                <a:effectLst>
                  <a:outerShdw blurRad="38100" dist="38100" dir="2700000" algn="tl">
                    <a:srgbClr val="000000">
                      <a:alpha val="43137"/>
                    </a:srgbClr>
                  </a:outerShdw>
                </a:effectLst>
              </a:endParaRPr>
            </a:p>
          </p:txBody>
        </p:sp>
      </p:grpSp>
      <p:sp>
        <p:nvSpPr>
          <p:cNvPr id="3" name="TextBox 2">
            <a:extLst>
              <a:ext uri="{FF2B5EF4-FFF2-40B4-BE49-F238E27FC236}">
                <a16:creationId xmlns:a16="http://schemas.microsoft.com/office/drawing/2014/main" id="{E8EF8966-85F7-3E6C-CECF-2F1E96BBD361}"/>
              </a:ext>
            </a:extLst>
          </p:cNvPr>
          <p:cNvSpPr txBox="1"/>
          <p:nvPr/>
        </p:nvSpPr>
        <p:spPr>
          <a:xfrm>
            <a:off x="5043696" y="3675949"/>
            <a:ext cx="2599301" cy="492443"/>
          </a:xfrm>
          <a:prstGeom prst="rect">
            <a:avLst/>
          </a:prstGeom>
          <a:noFill/>
        </p:spPr>
        <p:txBody>
          <a:bodyPr wrap="none" rtlCol="0">
            <a:spAutoFit/>
          </a:bodyPr>
          <a:lstStyle/>
          <a:p>
            <a:r>
              <a:rPr lang="en-US" sz="2600" i="1" dirty="0"/>
              <a:t>Muhammad Tahir</a:t>
            </a:r>
          </a:p>
        </p:txBody>
      </p:sp>
    </p:spTree>
    <p:extLst>
      <p:ext uri="{BB962C8B-B14F-4D97-AF65-F5344CB8AC3E}">
        <p14:creationId xmlns:p14="http://schemas.microsoft.com/office/powerpoint/2010/main" val="3040972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79588" y="215384"/>
            <a:ext cx="788999" cy="369332"/>
          </a:xfrm>
          <a:prstGeom prst="rect">
            <a:avLst/>
          </a:prstGeom>
          <a:solidFill>
            <a:schemeClr val="tx1"/>
          </a:solidFill>
          <a:ln>
            <a:solidFill>
              <a:schemeClr val="tx1"/>
            </a:solidFill>
          </a:ln>
        </p:spPr>
        <p:txBody>
          <a:bodyPr wrap="none">
            <a:spAutoFit/>
          </a:bodyPr>
          <a:lstStyle/>
          <a:p>
            <a:r>
              <a:rPr lang="en-US" b="1" dirty="0">
                <a:solidFill>
                  <a:schemeClr val="bg1"/>
                </a:solidFill>
                <a:effectLst>
                  <a:outerShdw blurRad="38100" dist="38100" dir="2700000" algn="tl">
                    <a:srgbClr val="000000">
                      <a:alpha val="43137"/>
                    </a:srgbClr>
                  </a:outerShdw>
                </a:effectLst>
              </a:rPr>
              <a:t>AI 623</a:t>
            </a:r>
            <a:endParaRPr lang="en-US" dirty="0">
              <a:solidFill>
                <a:schemeClr val="bg1"/>
              </a:solidFill>
              <a:effectLst>
                <a:outerShdw blurRad="38100" dist="38100" dir="2700000" algn="tl">
                  <a:srgbClr val="000000">
                    <a:alpha val="43137"/>
                  </a:srgbClr>
                </a:outerShdw>
              </a:effectLst>
            </a:endParaRPr>
          </a:p>
        </p:txBody>
      </p:sp>
      <p:sp>
        <p:nvSpPr>
          <p:cNvPr id="9" name="TextBox 8"/>
          <p:cNvSpPr txBox="1"/>
          <p:nvPr/>
        </p:nvSpPr>
        <p:spPr>
          <a:xfrm>
            <a:off x="1962339" y="123051"/>
            <a:ext cx="2984984" cy="553998"/>
          </a:xfrm>
          <a:prstGeom prst="rect">
            <a:avLst/>
          </a:prstGeom>
          <a:noFill/>
        </p:spPr>
        <p:txBody>
          <a:bodyPr wrap="none" rtlCol="0">
            <a:spAutoFit/>
          </a:bodyPr>
          <a:lstStyle/>
          <a:p>
            <a:r>
              <a:rPr lang="en-US" sz="3000" b="1" dirty="0"/>
              <a:t>Welcome to Class</a:t>
            </a:r>
          </a:p>
        </p:txBody>
      </p:sp>
      <p:cxnSp>
        <p:nvCxnSpPr>
          <p:cNvPr id="11" name="Straight Arrow Connector 10"/>
          <p:cNvCxnSpPr/>
          <p:nvPr/>
        </p:nvCxnSpPr>
        <p:spPr>
          <a:xfrm>
            <a:off x="1136650" y="400050"/>
            <a:ext cx="7175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AB48D6E-C483-D83D-3091-1DEBA416C0CD}"/>
              </a:ext>
            </a:extLst>
          </p:cNvPr>
          <p:cNvSpPr/>
          <p:nvPr/>
        </p:nvSpPr>
        <p:spPr>
          <a:xfrm>
            <a:off x="0" y="1999235"/>
            <a:ext cx="12191998" cy="430887"/>
          </a:xfrm>
          <a:prstGeom prst="rect">
            <a:avLst/>
          </a:prstGeom>
          <a:solidFill>
            <a:schemeClr val="tx2"/>
          </a:solidFill>
          <a:ln>
            <a:solidFill>
              <a:srgbClr val="FFF4E8"/>
            </a:solidFill>
          </a:ln>
        </p:spPr>
        <p:txBody>
          <a:bodyPr wrap="square">
            <a:spAutoFit/>
          </a:bodyPr>
          <a:lstStyle/>
          <a:p>
            <a:pPr algn="ctr"/>
            <a:r>
              <a:rPr lang="en-US" sz="2200" dirty="0">
                <a:solidFill>
                  <a:schemeClr val="bg1"/>
                </a:solidFill>
              </a:rPr>
              <a:t>This is an advance course on </a:t>
            </a:r>
            <a:r>
              <a:rPr lang="en-US" sz="2200" b="1" i="1" dirty="0">
                <a:solidFill>
                  <a:schemeClr val="bg1"/>
                </a:solidFill>
              </a:rPr>
              <a:t>Multimodal (Large) Language Models (MLLMs)</a:t>
            </a:r>
            <a:endParaRPr lang="en-US" sz="2200" dirty="0">
              <a:solidFill>
                <a:schemeClr val="bg1"/>
              </a:solidFill>
            </a:endParaRPr>
          </a:p>
        </p:txBody>
      </p:sp>
      <p:sp>
        <p:nvSpPr>
          <p:cNvPr id="3" name="TextBox 2">
            <a:extLst>
              <a:ext uri="{FF2B5EF4-FFF2-40B4-BE49-F238E27FC236}">
                <a16:creationId xmlns:a16="http://schemas.microsoft.com/office/drawing/2014/main" id="{D4A4344E-F246-7A34-1229-482CF9A6EA74}"/>
              </a:ext>
            </a:extLst>
          </p:cNvPr>
          <p:cNvSpPr txBox="1"/>
          <p:nvPr/>
        </p:nvSpPr>
        <p:spPr>
          <a:xfrm>
            <a:off x="5635891" y="2575017"/>
            <a:ext cx="6339723" cy="4093428"/>
          </a:xfrm>
          <a:prstGeom prst="rect">
            <a:avLst/>
          </a:prstGeom>
          <a:noFill/>
        </p:spPr>
        <p:txBody>
          <a:bodyPr wrap="square">
            <a:spAutoFit/>
          </a:bodyPr>
          <a:lstStyle/>
          <a:p>
            <a:pPr marL="285750" indent="-285750">
              <a:buFont typeface="Wingdings" panose="05000000000000000000" pitchFamily="2" charset="2"/>
              <a:buChar char="Ø"/>
            </a:pPr>
            <a:r>
              <a:rPr lang="en-US" sz="2000" b="1" dirty="0">
                <a:highlight>
                  <a:srgbClr val="FFFF00"/>
                </a:highlight>
              </a:rPr>
              <a:t>Large Language Model (LLM)</a:t>
            </a:r>
            <a:r>
              <a:rPr lang="en-US" sz="2000" dirty="0">
                <a:highlight>
                  <a:srgbClr val="FFFF00"/>
                </a:highlight>
              </a:rPr>
              <a:t>: </a:t>
            </a:r>
            <a:r>
              <a:rPr lang="en-US" sz="2000" dirty="0"/>
              <a:t>Large model primarily trained on language and is able to understand text and generate text. </a:t>
            </a:r>
          </a:p>
          <a:p>
            <a:pPr marL="285750" indent="-285750">
              <a:buFont typeface="Wingdings" panose="05000000000000000000" pitchFamily="2" charset="2"/>
              <a:buChar char="Ø"/>
            </a:pPr>
            <a:r>
              <a:rPr lang="en-US" sz="2000" b="1" dirty="0">
                <a:highlight>
                  <a:srgbClr val="FFFF00"/>
                </a:highlight>
              </a:rPr>
              <a:t>Vision Language Model (VLM)</a:t>
            </a:r>
            <a:r>
              <a:rPr lang="en-US" sz="2000" dirty="0">
                <a:highlight>
                  <a:srgbClr val="FFFF00"/>
                </a:highlight>
              </a:rPr>
              <a:t>: </a:t>
            </a:r>
            <a:r>
              <a:rPr lang="en-US" sz="2000" dirty="0"/>
              <a:t>An LLM with a vision encoder, allowing it to understand language and images and generate text. </a:t>
            </a:r>
          </a:p>
          <a:p>
            <a:pPr marL="285750" indent="-285750">
              <a:buFont typeface="Wingdings" panose="05000000000000000000" pitchFamily="2" charset="2"/>
              <a:buChar char="Ø"/>
            </a:pPr>
            <a:r>
              <a:rPr lang="en-US" sz="2000" b="1" dirty="0">
                <a:highlight>
                  <a:srgbClr val="FFFF00"/>
                </a:highlight>
              </a:rPr>
              <a:t>Multimodal (Large) Language Model (MLLM)</a:t>
            </a:r>
            <a:r>
              <a:rPr lang="en-US" sz="2000" dirty="0">
                <a:highlight>
                  <a:srgbClr val="FFFF00"/>
                </a:highlight>
              </a:rPr>
              <a:t>: </a:t>
            </a:r>
            <a:r>
              <a:rPr lang="en-US" sz="2000" dirty="0"/>
              <a:t>A more general type of model that is built to process, understand and generate multiple modalities: </a:t>
            </a:r>
          </a:p>
          <a:p>
            <a:pPr marL="1257300" lvl="2" indent="-342900">
              <a:buFont typeface="Courier New" panose="02070309020205020404" pitchFamily="49" charset="0"/>
              <a:buChar char="o"/>
            </a:pPr>
            <a:r>
              <a:rPr lang="en-US" sz="2000" dirty="0"/>
              <a:t>Text</a:t>
            </a:r>
          </a:p>
          <a:p>
            <a:pPr marL="1257300" lvl="2" indent="-342900">
              <a:buFont typeface="Courier New" panose="02070309020205020404" pitchFamily="49" charset="0"/>
              <a:buChar char="o"/>
            </a:pPr>
            <a:r>
              <a:rPr lang="en-US" sz="2000" dirty="0"/>
              <a:t>Images</a:t>
            </a:r>
          </a:p>
          <a:p>
            <a:pPr marL="1257300" lvl="2" indent="-342900">
              <a:buFont typeface="Courier New" panose="02070309020205020404" pitchFamily="49" charset="0"/>
              <a:buChar char="o"/>
            </a:pPr>
            <a:r>
              <a:rPr lang="en-US" sz="2000" dirty="0"/>
              <a:t>Video</a:t>
            </a:r>
          </a:p>
          <a:p>
            <a:pPr marL="1257300" lvl="2" indent="-342900">
              <a:buFont typeface="Courier New" panose="02070309020205020404" pitchFamily="49" charset="0"/>
              <a:buChar char="o"/>
            </a:pPr>
            <a:r>
              <a:rPr lang="en-US" sz="2000" dirty="0"/>
              <a:t>Audio</a:t>
            </a:r>
          </a:p>
        </p:txBody>
      </p:sp>
      <p:sp>
        <p:nvSpPr>
          <p:cNvPr id="4" name="TextBox 3">
            <a:extLst>
              <a:ext uri="{FF2B5EF4-FFF2-40B4-BE49-F238E27FC236}">
                <a16:creationId xmlns:a16="http://schemas.microsoft.com/office/drawing/2014/main" id="{401A276B-F3DB-26BA-4FBA-F063E56E23CF}"/>
              </a:ext>
            </a:extLst>
          </p:cNvPr>
          <p:cNvSpPr txBox="1"/>
          <p:nvPr/>
        </p:nvSpPr>
        <p:spPr>
          <a:xfrm>
            <a:off x="63203" y="905631"/>
            <a:ext cx="11912411" cy="892552"/>
          </a:xfrm>
          <a:prstGeom prst="rect">
            <a:avLst/>
          </a:prstGeom>
          <a:noFill/>
        </p:spPr>
        <p:txBody>
          <a:bodyPr wrap="square">
            <a:spAutoFit/>
          </a:bodyPr>
          <a:lstStyle/>
          <a:p>
            <a:pPr algn="ctr"/>
            <a:r>
              <a:rPr lang="en-US" sz="2600" i="1" dirty="0"/>
              <a:t>“Computers are now able to speak, see, hear and learn. The future is already here—it’s just not evenly distributed. Welcome to this future ! ”</a:t>
            </a:r>
            <a:endParaRPr lang="en-PK" sz="2600" dirty="0"/>
          </a:p>
        </p:txBody>
      </p:sp>
      <p:grpSp>
        <p:nvGrpSpPr>
          <p:cNvPr id="8" name="Group 7">
            <a:extLst>
              <a:ext uri="{FF2B5EF4-FFF2-40B4-BE49-F238E27FC236}">
                <a16:creationId xmlns:a16="http://schemas.microsoft.com/office/drawing/2014/main" id="{E7F175AF-33B9-BCDA-AC0E-8B73466394E3}"/>
              </a:ext>
            </a:extLst>
          </p:cNvPr>
          <p:cNvGrpSpPr/>
          <p:nvPr/>
        </p:nvGrpSpPr>
        <p:grpSpPr>
          <a:xfrm>
            <a:off x="340546" y="2306363"/>
            <a:ext cx="3873068" cy="4428586"/>
            <a:chOff x="556931" y="2513882"/>
            <a:chExt cx="3873068" cy="4428586"/>
          </a:xfrm>
        </p:grpSpPr>
        <p:pic>
          <p:nvPicPr>
            <p:cNvPr id="24" name="Picture 23">
              <a:extLst>
                <a:ext uri="{FF2B5EF4-FFF2-40B4-BE49-F238E27FC236}">
                  <a16:creationId xmlns:a16="http://schemas.microsoft.com/office/drawing/2014/main" id="{7D5DF8D2-FB97-0F3E-3989-D191182017B7}"/>
                </a:ext>
              </a:extLst>
            </p:cNvPr>
            <p:cNvPicPr>
              <a:picLocks noChangeAspect="1"/>
            </p:cNvPicPr>
            <p:nvPr/>
          </p:nvPicPr>
          <p:blipFill>
            <a:blip r:embed="rId2"/>
            <a:srcRect l="43334" r="9687"/>
            <a:stretch>
              <a:fillRect/>
            </a:stretch>
          </p:blipFill>
          <p:spPr>
            <a:xfrm>
              <a:off x="556931" y="4305262"/>
              <a:ext cx="3873068" cy="2637206"/>
            </a:xfrm>
            <a:prstGeom prst="rect">
              <a:avLst/>
            </a:prstGeom>
          </p:spPr>
        </p:pic>
        <p:pic>
          <p:nvPicPr>
            <p:cNvPr id="5" name="Picture 4">
              <a:extLst>
                <a:ext uri="{FF2B5EF4-FFF2-40B4-BE49-F238E27FC236}">
                  <a16:creationId xmlns:a16="http://schemas.microsoft.com/office/drawing/2014/main" id="{BBFA3EB7-C8DF-6EB7-56F5-8B4C74EF608D}"/>
                </a:ext>
              </a:extLst>
            </p:cNvPr>
            <p:cNvPicPr>
              <a:picLocks noChangeAspect="1"/>
            </p:cNvPicPr>
            <p:nvPr/>
          </p:nvPicPr>
          <p:blipFill>
            <a:blip r:embed="rId2"/>
            <a:srcRect l="24508" t="9195" r="56666"/>
            <a:stretch>
              <a:fillRect/>
            </a:stretch>
          </p:blipFill>
          <p:spPr>
            <a:xfrm>
              <a:off x="2687358" y="2513882"/>
              <a:ext cx="1410961" cy="2176996"/>
            </a:xfrm>
            <a:prstGeom prst="rect">
              <a:avLst/>
            </a:prstGeom>
          </p:spPr>
        </p:pic>
        <p:pic>
          <p:nvPicPr>
            <p:cNvPr id="6" name="Picture 5">
              <a:extLst>
                <a:ext uri="{FF2B5EF4-FFF2-40B4-BE49-F238E27FC236}">
                  <a16:creationId xmlns:a16="http://schemas.microsoft.com/office/drawing/2014/main" id="{130AA32D-E9B4-E6A4-ECAC-36A3B19C898E}"/>
                </a:ext>
              </a:extLst>
            </p:cNvPr>
            <p:cNvPicPr>
              <a:picLocks noChangeAspect="1"/>
            </p:cNvPicPr>
            <p:nvPr/>
          </p:nvPicPr>
          <p:blipFill>
            <a:blip r:embed="rId2"/>
            <a:srcRect l="3245" t="2701" r="75802" b="17705"/>
            <a:stretch>
              <a:fillRect/>
            </a:stretch>
          </p:blipFill>
          <p:spPr>
            <a:xfrm>
              <a:off x="786609" y="2813857"/>
              <a:ext cx="1297803" cy="1577046"/>
            </a:xfrm>
            <a:prstGeom prst="rect">
              <a:avLst/>
            </a:prstGeom>
          </p:spPr>
        </p:pic>
      </p:grpSp>
    </p:spTree>
    <p:extLst>
      <p:ext uri="{BB962C8B-B14F-4D97-AF65-F5344CB8AC3E}">
        <p14:creationId xmlns:p14="http://schemas.microsoft.com/office/powerpoint/2010/main" val="762427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FB04E-DE6F-3C4D-3501-C9CAEEAF9F5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4D113F1-CDEB-E915-6320-F2E621495894}"/>
              </a:ext>
            </a:extLst>
          </p:cNvPr>
          <p:cNvSpPr/>
          <p:nvPr/>
        </p:nvSpPr>
        <p:spPr>
          <a:xfrm>
            <a:off x="279588" y="215384"/>
            <a:ext cx="788999" cy="369332"/>
          </a:xfrm>
          <a:prstGeom prst="rect">
            <a:avLst/>
          </a:prstGeom>
          <a:solidFill>
            <a:schemeClr val="tx1"/>
          </a:solidFill>
          <a:ln>
            <a:solidFill>
              <a:schemeClr val="tx1"/>
            </a:solidFill>
          </a:ln>
        </p:spPr>
        <p:txBody>
          <a:bodyPr wrap="none">
            <a:spAutoFit/>
          </a:bodyPr>
          <a:lstStyle/>
          <a:p>
            <a:r>
              <a:rPr lang="en-US" b="1" dirty="0">
                <a:solidFill>
                  <a:schemeClr val="bg1"/>
                </a:solidFill>
                <a:effectLst>
                  <a:outerShdw blurRad="38100" dist="38100" dir="2700000" algn="tl">
                    <a:srgbClr val="000000">
                      <a:alpha val="43137"/>
                    </a:srgbClr>
                  </a:outerShdw>
                </a:effectLst>
              </a:rPr>
              <a:t>AI 623</a:t>
            </a:r>
            <a:endParaRPr lang="en-US" dirty="0">
              <a:solidFill>
                <a:schemeClr val="bg1"/>
              </a:solidFill>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E7962001-B2E7-29D2-3993-90CAA0638D02}"/>
              </a:ext>
            </a:extLst>
          </p:cNvPr>
          <p:cNvSpPr txBox="1"/>
          <p:nvPr/>
        </p:nvSpPr>
        <p:spPr>
          <a:xfrm>
            <a:off x="1962339" y="123051"/>
            <a:ext cx="2984984" cy="553998"/>
          </a:xfrm>
          <a:prstGeom prst="rect">
            <a:avLst/>
          </a:prstGeom>
          <a:noFill/>
        </p:spPr>
        <p:txBody>
          <a:bodyPr wrap="none" rtlCol="0">
            <a:spAutoFit/>
          </a:bodyPr>
          <a:lstStyle/>
          <a:p>
            <a:r>
              <a:rPr lang="en-US" sz="3000" b="1" dirty="0"/>
              <a:t>Welcome to Class</a:t>
            </a:r>
          </a:p>
        </p:txBody>
      </p:sp>
      <p:cxnSp>
        <p:nvCxnSpPr>
          <p:cNvPr id="11" name="Straight Arrow Connector 10">
            <a:extLst>
              <a:ext uri="{FF2B5EF4-FFF2-40B4-BE49-F238E27FC236}">
                <a16:creationId xmlns:a16="http://schemas.microsoft.com/office/drawing/2014/main" id="{02E47173-80A5-A74F-7148-F28B08F6FEBB}"/>
              </a:ext>
            </a:extLst>
          </p:cNvPr>
          <p:cNvCxnSpPr/>
          <p:nvPr/>
        </p:nvCxnSpPr>
        <p:spPr>
          <a:xfrm>
            <a:off x="1136650" y="400050"/>
            <a:ext cx="7175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4D6824B-6BED-49E0-3F0B-9F16D197FF54}"/>
              </a:ext>
            </a:extLst>
          </p:cNvPr>
          <p:cNvSpPr/>
          <p:nvPr/>
        </p:nvSpPr>
        <p:spPr>
          <a:xfrm>
            <a:off x="211149" y="789443"/>
            <a:ext cx="11836595" cy="1200329"/>
          </a:xfrm>
          <a:prstGeom prst="rect">
            <a:avLst/>
          </a:prstGeom>
        </p:spPr>
        <p:txBody>
          <a:bodyPr wrap="square">
            <a:spAutoFit/>
          </a:bodyPr>
          <a:lstStyle/>
          <a:p>
            <a:pPr marL="285750" indent="-285750">
              <a:buBlip>
                <a:blip r:embed="rId2"/>
              </a:buBlip>
            </a:pPr>
            <a:r>
              <a:rPr lang="en-US" b="1" dirty="0"/>
              <a:t>What will we cover in the course? </a:t>
            </a:r>
            <a:r>
              <a:rPr lang="en-US" dirty="0"/>
              <a:t>we will provide a rigorous treatment of </a:t>
            </a:r>
            <a:r>
              <a:rPr lang="en-US" i="1" u="sng" dirty="0"/>
              <a:t>Deep Generative Models for Text and Vision </a:t>
            </a:r>
            <a:r>
              <a:rPr lang="en-US" dirty="0"/>
              <a:t>which serve as foundations for MLLMs. </a:t>
            </a:r>
          </a:p>
          <a:p>
            <a:pPr marL="285750" indent="-285750">
              <a:buBlip>
                <a:blip r:embed="rId2"/>
              </a:buBlip>
            </a:pPr>
            <a:r>
              <a:rPr lang="en-US" b="1" dirty="0"/>
              <a:t>What we will NOT cover: </a:t>
            </a:r>
          </a:p>
          <a:p>
            <a:pPr marL="742950" lvl="1" indent="-285750">
              <a:buBlip>
                <a:blip r:embed="rId2"/>
              </a:buBlip>
            </a:pPr>
            <a:r>
              <a:rPr lang="en-US" dirty="0"/>
              <a:t>Convolutions + Attention, CNNs, RNNs, LSTMs, Transformers, How to train + evaluate + build/deploy AI Models etc. </a:t>
            </a:r>
          </a:p>
        </p:txBody>
      </p:sp>
      <p:sp>
        <p:nvSpPr>
          <p:cNvPr id="18" name="TextBox 17">
            <a:extLst>
              <a:ext uri="{FF2B5EF4-FFF2-40B4-BE49-F238E27FC236}">
                <a16:creationId xmlns:a16="http://schemas.microsoft.com/office/drawing/2014/main" id="{B7C63523-0ABC-DD37-C925-FF6AF4197C56}"/>
              </a:ext>
            </a:extLst>
          </p:cNvPr>
          <p:cNvSpPr txBox="1"/>
          <p:nvPr/>
        </p:nvSpPr>
        <p:spPr>
          <a:xfrm>
            <a:off x="211149" y="1907535"/>
            <a:ext cx="11836594" cy="646331"/>
          </a:xfrm>
          <a:prstGeom prst="rect">
            <a:avLst/>
          </a:prstGeom>
          <a:noFill/>
        </p:spPr>
        <p:txBody>
          <a:bodyPr wrap="square">
            <a:spAutoFit/>
          </a:bodyPr>
          <a:lstStyle/>
          <a:p>
            <a:pPr marL="285750" indent="-285750">
              <a:buBlip>
                <a:blip r:embed="rId2"/>
              </a:buBlip>
            </a:pPr>
            <a:r>
              <a:rPr lang="en-US" b="1" dirty="0"/>
              <a:t>Pre-requisite: </a:t>
            </a:r>
            <a:r>
              <a:rPr lang="en-US" dirty="0"/>
              <a:t>We require advance knowledge of:</a:t>
            </a:r>
          </a:p>
          <a:p>
            <a:pPr marL="742950" lvl="1" indent="-285750">
              <a:buFont typeface="Wingdings" panose="05000000000000000000" pitchFamily="2" charset="2"/>
              <a:buChar char="§"/>
            </a:pPr>
            <a:r>
              <a:rPr lang="en-US" i="1" dirty="0">
                <a:highlight>
                  <a:srgbClr val="00FF00"/>
                </a:highlight>
              </a:rPr>
              <a:t>Applied Probability </a:t>
            </a:r>
            <a:r>
              <a:rPr lang="en-US" i="1" dirty="0"/>
              <a:t>+ </a:t>
            </a:r>
            <a:r>
              <a:rPr lang="en-US" i="1" dirty="0">
                <a:highlight>
                  <a:srgbClr val="C0C0C0"/>
                </a:highlight>
              </a:rPr>
              <a:t>Multivariable Calculus </a:t>
            </a:r>
            <a:r>
              <a:rPr lang="en-US" i="1" dirty="0"/>
              <a:t>+ </a:t>
            </a:r>
            <a:r>
              <a:rPr lang="en-US" i="1" dirty="0">
                <a:highlight>
                  <a:srgbClr val="CEF5F5"/>
                </a:highlight>
              </a:rPr>
              <a:t>Deep Learning </a:t>
            </a:r>
            <a:r>
              <a:rPr lang="en-US" i="1" dirty="0"/>
              <a:t>+ </a:t>
            </a:r>
            <a:r>
              <a:rPr lang="en-US" i="1" dirty="0">
                <a:highlight>
                  <a:srgbClr val="FFB461"/>
                </a:highlight>
              </a:rPr>
              <a:t>PyTorch</a:t>
            </a:r>
            <a:r>
              <a:rPr lang="en-US" i="1" dirty="0"/>
              <a:t> + </a:t>
            </a:r>
            <a:r>
              <a:rPr lang="en-US" dirty="0">
                <a:highlight>
                  <a:srgbClr val="FFFF00"/>
                </a:highlight>
              </a:rPr>
              <a:t>Zero-assignment and zero-reading list</a:t>
            </a:r>
          </a:p>
        </p:txBody>
      </p:sp>
      <p:pic>
        <p:nvPicPr>
          <p:cNvPr id="3" name="Picture 2">
            <a:extLst>
              <a:ext uri="{FF2B5EF4-FFF2-40B4-BE49-F238E27FC236}">
                <a16:creationId xmlns:a16="http://schemas.microsoft.com/office/drawing/2014/main" id="{91285CBC-9541-F49A-27EB-6AC6181335FE}"/>
              </a:ext>
            </a:extLst>
          </p:cNvPr>
          <p:cNvPicPr>
            <a:picLocks noChangeAspect="1"/>
          </p:cNvPicPr>
          <p:nvPr/>
        </p:nvPicPr>
        <p:blipFill>
          <a:blip r:embed="rId3"/>
          <a:stretch>
            <a:fillRect/>
          </a:stretch>
        </p:blipFill>
        <p:spPr>
          <a:xfrm>
            <a:off x="279588" y="2954216"/>
            <a:ext cx="11089585" cy="3688400"/>
          </a:xfrm>
          <a:prstGeom prst="rect">
            <a:avLst/>
          </a:prstGeom>
        </p:spPr>
      </p:pic>
    </p:spTree>
    <p:extLst>
      <p:ext uri="{BB962C8B-B14F-4D97-AF65-F5344CB8AC3E}">
        <p14:creationId xmlns:p14="http://schemas.microsoft.com/office/powerpoint/2010/main" val="3557802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C7FD3-DF33-53DB-6D13-3156CA702576}"/>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546D036-AC68-EAD6-A2C3-048A6B30D67F}"/>
              </a:ext>
            </a:extLst>
          </p:cNvPr>
          <p:cNvSpPr/>
          <p:nvPr/>
        </p:nvSpPr>
        <p:spPr>
          <a:xfrm>
            <a:off x="279588" y="215384"/>
            <a:ext cx="788999" cy="369332"/>
          </a:xfrm>
          <a:prstGeom prst="rect">
            <a:avLst/>
          </a:prstGeom>
          <a:solidFill>
            <a:schemeClr val="tx1"/>
          </a:solidFill>
          <a:ln>
            <a:solidFill>
              <a:schemeClr val="tx1"/>
            </a:solidFill>
          </a:ln>
        </p:spPr>
        <p:txBody>
          <a:bodyPr wrap="none">
            <a:spAutoFit/>
          </a:bodyPr>
          <a:lstStyle/>
          <a:p>
            <a:r>
              <a:rPr lang="en-US" b="1" dirty="0">
                <a:solidFill>
                  <a:schemeClr val="bg1"/>
                </a:solidFill>
                <a:effectLst>
                  <a:outerShdw blurRad="38100" dist="38100" dir="2700000" algn="tl">
                    <a:srgbClr val="000000">
                      <a:alpha val="43137"/>
                    </a:srgbClr>
                  </a:outerShdw>
                </a:effectLst>
              </a:rPr>
              <a:t>AI 623</a:t>
            </a:r>
            <a:endParaRPr lang="en-US" dirty="0">
              <a:solidFill>
                <a:schemeClr val="bg1"/>
              </a:solidFill>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9A6F89A2-3553-177F-607C-D0773F0DFEA1}"/>
              </a:ext>
            </a:extLst>
          </p:cNvPr>
          <p:cNvSpPr txBox="1"/>
          <p:nvPr/>
        </p:nvSpPr>
        <p:spPr>
          <a:xfrm>
            <a:off x="1962339" y="123051"/>
            <a:ext cx="3273525" cy="553998"/>
          </a:xfrm>
          <a:prstGeom prst="rect">
            <a:avLst/>
          </a:prstGeom>
          <a:noFill/>
        </p:spPr>
        <p:txBody>
          <a:bodyPr wrap="none" rtlCol="0">
            <a:spAutoFit/>
          </a:bodyPr>
          <a:lstStyle/>
          <a:p>
            <a:r>
              <a:rPr lang="en-US" sz="3000" b="1" dirty="0"/>
              <a:t>Course Information</a:t>
            </a:r>
          </a:p>
        </p:txBody>
      </p:sp>
      <p:cxnSp>
        <p:nvCxnSpPr>
          <p:cNvPr id="11" name="Straight Arrow Connector 10">
            <a:extLst>
              <a:ext uri="{FF2B5EF4-FFF2-40B4-BE49-F238E27FC236}">
                <a16:creationId xmlns:a16="http://schemas.microsoft.com/office/drawing/2014/main" id="{944A77D3-88FC-6EA9-46CA-8A74B353F3B4}"/>
              </a:ext>
            </a:extLst>
          </p:cNvPr>
          <p:cNvCxnSpPr/>
          <p:nvPr/>
        </p:nvCxnSpPr>
        <p:spPr>
          <a:xfrm>
            <a:off x="1136650" y="400050"/>
            <a:ext cx="7175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471B6980-F22F-8EA9-9067-38D38F6049BF}"/>
              </a:ext>
            </a:extLst>
          </p:cNvPr>
          <p:cNvGrpSpPr/>
          <p:nvPr/>
        </p:nvGrpSpPr>
        <p:grpSpPr>
          <a:xfrm>
            <a:off x="401195" y="1060178"/>
            <a:ext cx="11374037" cy="2308324"/>
            <a:chOff x="401195" y="1060178"/>
            <a:chExt cx="11374037" cy="2308324"/>
          </a:xfrm>
        </p:grpSpPr>
        <p:sp>
          <p:nvSpPr>
            <p:cNvPr id="4" name="Rectangle 3">
              <a:extLst>
                <a:ext uri="{FF2B5EF4-FFF2-40B4-BE49-F238E27FC236}">
                  <a16:creationId xmlns:a16="http://schemas.microsoft.com/office/drawing/2014/main" id="{FD614921-CC52-8527-24DB-C44BA07FEA16}"/>
                </a:ext>
              </a:extLst>
            </p:cNvPr>
            <p:cNvSpPr/>
            <p:nvPr/>
          </p:nvSpPr>
          <p:spPr>
            <a:xfrm>
              <a:off x="401195" y="1060178"/>
              <a:ext cx="11374037" cy="2308324"/>
            </a:xfrm>
            <a:prstGeom prst="rect">
              <a:avLst/>
            </a:prstGeom>
          </p:spPr>
          <p:txBody>
            <a:bodyPr wrap="square">
              <a:spAutoFit/>
            </a:bodyPr>
            <a:lstStyle/>
            <a:p>
              <a:pPr algn="ctr"/>
              <a:endParaRPr lang="en-US" b="1" dirty="0">
                <a:solidFill>
                  <a:srgbClr val="3334B8"/>
                </a:solidFill>
              </a:endParaRPr>
            </a:p>
            <a:p>
              <a:pPr marL="285750" indent="-285750">
                <a:buBlip>
                  <a:blip r:embed="rId2"/>
                </a:buBlip>
              </a:pPr>
              <a:r>
                <a:rPr lang="en-US" b="1" dirty="0"/>
                <a:t>Grading Breakup</a:t>
              </a:r>
              <a:r>
                <a:rPr lang="en-US" dirty="0"/>
                <a:t>: </a:t>
              </a:r>
            </a:p>
            <a:p>
              <a:pPr marL="285750" indent="-285750">
                <a:buBlip>
                  <a:blip r:embed="rId2"/>
                </a:buBlip>
              </a:pPr>
              <a:endParaRPr lang="en-US" dirty="0"/>
            </a:p>
            <a:p>
              <a:pPr marL="285750" indent="-285750">
                <a:buBlip>
                  <a:blip r:embed="rId2"/>
                </a:buBlip>
              </a:pPr>
              <a:endParaRPr lang="en-US" dirty="0"/>
            </a:p>
            <a:p>
              <a:pPr marL="285750" indent="-285750">
                <a:buBlip>
                  <a:blip r:embed="rId2"/>
                </a:buBlip>
              </a:pPr>
              <a:endParaRPr lang="en-US" dirty="0"/>
            </a:p>
            <a:p>
              <a:pPr marL="285750" indent="-285750">
                <a:buBlip>
                  <a:blip r:embed="rId2"/>
                </a:buBlip>
              </a:pPr>
              <a:endParaRPr lang="en-US" dirty="0"/>
            </a:p>
            <a:p>
              <a:pPr marL="285750" indent="-285750">
                <a:buBlip>
                  <a:blip r:embed="rId2"/>
                </a:buBlip>
              </a:pPr>
              <a:endParaRPr lang="en-US" dirty="0"/>
            </a:p>
            <a:p>
              <a:pPr marL="285750" indent="-285750">
                <a:buBlip>
                  <a:blip r:embed="rId2"/>
                </a:buBlip>
              </a:pPr>
              <a:endParaRPr lang="en-US" b="1" dirty="0"/>
            </a:p>
          </p:txBody>
        </p:sp>
        <p:pic>
          <p:nvPicPr>
            <p:cNvPr id="5" name="Picture 4">
              <a:extLst>
                <a:ext uri="{FF2B5EF4-FFF2-40B4-BE49-F238E27FC236}">
                  <a16:creationId xmlns:a16="http://schemas.microsoft.com/office/drawing/2014/main" id="{97D5A815-A6B9-6AC9-5953-E25CAF2FC31E}"/>
                </a:ext>
              </a:extLst>
            </p:cNvPr>
            <p:cNvPicPr>
              <a:picLocks noChangeAspect="1"/>
            </p:cNvPicPr>
            <p:nvPr/>
          </p:nvPicPr>
          <p:blipFill>
            <a:blip r:embed="rId3"/>
            <a:srcRect r="75319"/>
            <a:stretch>
              <a:fillRect/>
            </a:stretch>
          </p:blipFill>
          <p:spPr>
            <a:xfrm>
              <a:off x="1524387" y="1393821"/>
              <a:ext cx="2049361" cy="1835055"/>
            </a:xfrm>
            <a:prstGeom prst="rect">
              <a:avLst/>
            </a:prstGeom>
          </p:spPr>
        </p:pic>
      </p:grpSp>
      <p:sp>
        <p:nvSpPr>
          <p:cNvPr id="13" name="Rectangle 12">
            <a:extLst>
              <a:ext uri="{FF2B5EF4-FFF2-40B4-BE49-F238E27FC236}">
                <a16:creationId xmlns:a16="http://schemas.microsoft.com/office/drawing/2014/main" id="{8D46350A-CC8E-DEFA-1150-7D70ADC6F9AF}"/>
              </a:ext>
            </a:extLst>
          </p:cNvPr>
          <p:cNvSpPr/>
          <p:nvPr/>
        </p:nvSpPr>
        <p:spPr>
          <a:xfrm>
            <a:off x="401195" y="747490"/>
            <a:ext cx="11262069" cy="646331"/>
          </a:xfrm>
          <a:prstGeom prst="rect">
            <a:avLst/>
          </a:prstGeom>
        </p:spPr>
        <p:txBody>
          <a:bodyPr wrap="square">
            <a:spAutoFit/>
          </a:bodyPr>
          <a:lstStyle/>
          <a:p>
            <a:pPr marL="285750" indent="-285750">
              <a:buBlip>
                <a:blip r:embed="rId2"/>
              </a:buBlip>
            </a:pPr>
            <a:r>
              <a:rPr lang="en-US" b="1" dirty="0"/>
              <a:t>Course Website: </a:t>
            </a:r>
            <a:r>
              <a:rPr lang="en-US" dirty="0"/>
              <a:t>Announcements, gradebook etc. on Slack + LMS course page. </a:t>
            </a:r>
          </a:p>
          <a:p>
            <a:pPr marL="285750" indent="-285750">
              <a:buBlip>
                <a:blip r:embed="rId2"/>
              </a:buBlip>
            </a:pPr>
            <a:r>
              <a:rPr lang="en-US" b="1" dirty="0"/>
              <a:t>Discussions</a:t>
            </a:r>
            <a:r>
              <a:rPr lang="en-US" dirty="0"/>
              <a:t>: Slack Channel. We will only allow questions that are related to the course material.</a:t>
            </a:r>
          </a:p>
        </p:txBody>
      </p:sp>
      <p:grpSp>
        <p:nvGrpSpPr>
          <p:cNvPr id="17" name="Group 16">
            <a:extLst>
              <a:ext uri="{FF2B5EF4-FFF2-40B4-BE49-F238E27FC236}">
                <a16:creationId xmlns:a16="http://schemas.microsoft.com/office/drawing/2014/main" id="{DE0B7CFD-AD54-12B8-9113-4C0A622B44FA}"/>
              </a:ext>
            </a:extLst>
          </p:cNvPr>
          <p:cNvGrpSpPr/>
          <p:nvPr/>
        </p:nvGrpSpPr>
        <p:grpSpPr>
          <a:xfrm>
            <a:off x="408175" y="4575811"/>
            <a:ext cx="10033002" cy="2265623"/>
            <a:chOff x="401982" y="4169148"/>
            <a:chExt cx="10033002" cy="2265623"/>
          </a:xfrm>
        </p:grpSpPr>
        <p:pic>
          <p:nvPicPr>
            <p:cNvPr id="2" name="Picture 1">
              <a:extLst>
                <a:ext uri="{FF2B5EF4-FFF2-40B4-BE49-F238E27FC236}">
                  <a16:creationId xmlns:a16="http://schemas.microsoft.com/office/drawing/2014/main" id="{F919137C-AACB-CF73-0375-8C40C9E8776D}"/>
                </a:ext>
              </a:extLst>
            </p:cNvPr>
            <p:cNvPicPr>
              <a:picLocks noChangeAspect="1"/>
            </p:cNvPicPr>
            <p:nvPr/>
          </p:nvPicPr>
          <p:blipFill>
            <a:blip r:embed="rId4"/>
            <a:stretch>
              <a:fillRect/>
            </a:stretch>
          </p:blipFill>
          <p:spPr>
            <a:xfrm>
              <a:off x="1649754" y="4538480"/>
              <a:ext cx="8785230" cy="1896291"/>
            </a:xfrm>
            <a:prstGeom prst="rect">
              <a:avLst/>
            </a:prstGeom>
          </p:spPr>
        </p:pic>
        <p:sp>
          <p:nvSpPr>
            <p:cNvPr id="15" name="Rectangle 14">
              <a:extLst>
                <a:ext uri="{FF2B5EF4-FFF2-40B4-BE49-F238E27FC236}">
                  <a16:creationId xmlns:a16="http://schemas.microsoft.com/office/drawing/2014/main" id="{6348AC3A-D251-177E-4E36-D625CCF2E877}"/>
                </a:ext>
              </a:extLst>
            </p:cNvPr>
            <p:cNvSpPr/>
            <p:nvPr/>
          </p:nvSpPr>
          <p:spPr>
            <a:xfrm>
              <a:off x="401982" y="4169148"/>
              <a:ext cx="3171766" cy="369332"/>
            </a:xfrm>
            <a:prstGeom prst="rect">
              <a:avLst/>
            </a:prstGeom>
          </p:spPr>
          <p:txBody>
            <a:bodyPr wrap="none">
              <a:spAutoFit/>
            </a:bodyPr>
            <a:lstStyle/>
            <a:p>
              <a:pPr marL="285750" indent="-285750">
                <a:buBlip>
                  <a:blip r:embed="rId2"/>
                </a:buBlip>
              </a:pPr>
              <a:r>
                <a:rPr lang="en-US" b="1" dirty="0"/>
                <a:t>Class Etiquettes and Rules</a:t>
              </a:r>
              <a:r>
                <a:rPr lang="en-US" dirty="0"/>
                <a:t>:   </a:t>
              </a:r>
            </a:p>
          </p:txBody>
        </p:sp>
      </p:grpSp>
      <p:sp>
        <p:nvSpPr>
          <p:cNvPr id="16" name="TextBox 15">
            <a:extLst>
              <a:ext uri="{FF2B5EF4-FFF2-40B4-BE49-F238E27FC236}">
                <a16:creationId xmlns:a16="http://schemas.microsoft.com/office/drawing/2014/main" id="{8A4570A9-192E-F29B-CAB0-FDDF77D626D4}"/>
              </a:ext>
            </a:extLst>
          </p:cNvPr>
          <p:cNvSpPr txBox="1"/>
          <p:nvPr/>
        </p:nvSpPr>
        <p:spPr>
          <a:xfrm>
            <a:off x="3448107" y="1800880"/>
            <a:ext cx="6212424" cy="1200329"/>
          </a:xfrm>
          <a:prstGeom prst="rect">
            <a:avLst/>
          </a:prstGeom>
          <a:noFill/>
        </p:spPr>
        <p:txBody>
          <a:bodyPr wrap="square" rtlCol="0">
            <a:spAutoFit/>
          </a:bodyPr>
          <a:lstStyle/>
          <a:p>
            <a:r>
              <a:rPr lang="en-US" dirty="0"/>
              <a:t>Attendance:					5%</a:t>
            </a:r>
          </a:p>
          <a:p>
            <a:r>
              <a:rPr lang="en-US" dirty="0"/>
              <a:t>Programming Assignments (PAs): (individual)		40%</a:t>
            </a:r>
          </a:p>
          <a:p>
            <a:r>
              <a:rPr lang="en-US" dirty="0"/>
              <a:t>Final Project: (in groups)				35%</a:t>
            </a:r>
          </a:p>
          <a:p>
            <a:r>
              <a:rPr lang="en-US" dirty="0"/>
              <a:t>Final Exam:					20%</a:t>
            </a:r>
            <a:endParaRPr lang="en-PK" dirty="0"/>
          </a:p>
        </p:txBody>
      </p:sp>
      <p:sp>
        <p:nvSpPr>
          <p:cNvPr id="12" name="Rectangle 11">
            <a:extLst>
              <a:ext uri="{FF2B5EF4-FFF2-40B4-BE49-F238E27FC236}">
                <a16:creationId xmlns:a16="http://schemas.microsoft.com/office/drawing/2014/main" id="{2EAD96C8-6934-9577-461F-54C93890F0E2}"/>
              </a:ext>
            </a:extLst>
          </p:cNvPr>
          <p:cNvSpPr/>
          <p:nvPr/>
        </p:nvSpPr>
        <p:spPr>
          <a:xfrm>
            <a:off x="416768" y="3072806"/>
            <a:ext cx="11249628" cy="1538883"/>
          </a:xfrm>
          <a:prstGeom prst="rect">
            <a:avLst/>
          </a:prstGeom>
        </p:spPr>
        <p:txBody>
          <a:bodyPr wrap="square">
            <a:spAutoFit/>
          </a:bodyPr>
          <a:lstStyle/>
          <a:p>
            <a:pPr marL="285750" indent="-285750">
              <a:buBlip>
                <a:blip r:embed="rId2"/>
              </a:buBlip>
            </a:pPr>
            <a:r>
              <a:rPr lang="en-US" b="1" dirty="0"/>
              <a:t>Leave Policy</a:t>
            </a:r>
            <a:r>
              <a:rPr lang="en-US" dirty="0"/>
              <a:t>: </a:t>
            </a:r>
          </a:p>
          <a:p>
            <a:pPr marL="742950" lvl="1" indent="-285750">
              <a:buBlip>
                <a:blip r:embed="rId2"/>
              </a:buBlip>
            </a:pPr>
            <a:r>
              <a:rPr lang="en-US" dirty="0">
                <a:highlight>
                  <a:srgbClr val="00FF00"/>
                </a:highlight>
              </a:rPr>
              <a:t>No </a:t>
            </a:r>
            <a:r>
              <a:rPr lang="en-US" i="1" dirty="0">
                <a:highlight>
                  <a:srgbClr val="00FF00"/>
                </a:highlight>
              </a:rPr>
              <a:t>N-x</a:t>
            </a:r>
            <a:r>
              <a:rPr lang="en-US" dirty="0">
                <a:highlight>
                  <a:srgbClr val="00FF00"/>
                </a:highlight>
              </a:rPr>
              <a:t> policy for PAs. </a:t>
            </a:r>
          </a:p>
          <a:p>
            <a:pPr marL="742950" lvl="1" indent="-285750">
              <a:buBlip>
                <a:blip r:embed="rId2"/>
              </a:buBlip>
            </a:pPr>
            <a:r>
              <a:rPr lang="en-US" dirty="0"/>
              <a:t>If you have </a:t>
            </a:r>
            <a:r>
              <a:rPr lang="en-US" b="1" dirty="0">
                <a:solidFill>
                  <a:srgbClr val="FF0000"/>
                </a:solidFill>
              </a:rPr>
              <a:t>more than 2 absents </a:t>
            </a:r>
            <a:r>
              <a:rPr lang="en-US" dirty="0"/>
              <a:t>by the end of the course, we will start deductions.</a:t>
            </a:r>
          </a:p>
          <a:p>
            <a:pPr marL="742950" lvl="1" indent="-285750">
              <a:buBlip>
                <a:blip r:embed="rId2"/>
              </a:buBlip>
            </a:pPr>
            <a:r>
              <a:rPr lang="en-US" u="sng" dirty="0">
                <a:effectLst>
                  <a:outerShdw blurRad="38100" dist="38100" dir="2700000" algn="tl">
                    <a:srgbClr val="000000">
                      <a:alpha val="43137"/>
                    </a:srgbClr>
                  </a:outerShdw>
                </a:effectLst>
              </a:rPr>
              <a:t>Missed assessments: </a:t>
            </a:r>
            <a:r>
              <a:rPr lang="en-US" dirty="0"/>
              <a:t>we will require approved OSA petitions for entertaining these requests. </a:t>
            </a:r>
          </a:p>
          <a:p>
            <a:pPr marL="742950" lvl="1" indent="-285750">
              <a:buBlip>
                <a:blip r:embed="rId2"/>
              </a:buBlip>
            </a:pPr>
            <a:r>
              <a:rPr lang="en-US" dirty="0"/>
              <a:t>Open Books + Open-Notes: All written assessments will be open-book open notes. </a:t>
            </a:r>
          </a:p>
          <a:p>
            <a:pPr lvl="2"/>
            <a:endParaRPr lang="en-US" sz="400" dirty="0"/>
          </a:p>
        </p:txBody>
      </p:sp>
    </p:spTree>
    <p:extLst>
      <p:ext uri="{BB962C8B-B14F-4D97-AF65-F5344CB8AC3E}">
        <p14:creationId xmlns:p14="http://schemas.microsoft.com/office/powerpoint/2010/main" val="1739494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FED23-83F8-3E40-BBC8-B45619AF045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A493F7E-D73B-93E1-2090-333EEAF4C965}"/>
              </a:ext>
            </a:extLst>
          </p:cNvPr>
          <p:cNvSpPr/>
          <p:nvPr/>
        </p:nvSpPr>
        <p:spPr>
          <a:xfrm>
            <a:off x="279588" y="215384"/>
            <a:ext cx="788999" cy="369332"/>
          </a:xfrm>
          <a:prstGeom prst="rect">
            <a:avLst/>
          </a:prstGeom>
          <a:solidFill>
            <a:schemeClr val="tx1"/>
          </a:solidFill>
          <a:ln>
            <a:solidFill>
              <a:schemeClr val="tx1"/>
            </a:solidFill>
          </a:ln>
        </p:spPr>
        <p:txBody>
          <a:bodyPr wrap="none">
            <a:spAutoFit/>
          </a:bodyPr>
          <a:lstStyle/>
          <a:p>
            <a:r>
              <a:rPr lang="en-US" b="1" dirty="0">
                <a:solidFill>
                  <a:schemeClr val="bg1"/>
                </a:solidFill>
                <a:effectLst>
                  <a:outerShdw blurRad="38100" dist="38100" dir="2700000" algn="tl">
                    <a:srgbClr val="000000">
                      <a:alpha val="43137"/>
                    </a:srgbClr>
                  </a:outerShdw>
                </a:effectLst>
              </a:rPr>
              <a:t>AI 623</a:t>
            </a:r>
            <a:endParaRPr lang="en-US" dirty="0">
              <a:solidFill>
                <a:schemeClr val="bg1"/>
              </a:solidFill>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E6C8E91B-C25B-BCE8-25FA-046C99105566}"/>
              </a:ext>
            </a:extLst>
          </p:cNvPr>
          <p:cNvSpPr txBox="1"/>
          <p:nvPr/>
        </p:nvSpPr>
        <p:spPr>
          <a:xfrm>
            <a:off x="1962339" y="123051"/>
            <a:ext cx="3273525" cy="553998"/>
          </a:xfrm>
          <a:prstGeom prst="rect">
            <a:avLst/>
          </a:prstGeom>
          <a:noFill/>
        </p:spPr>
        <p:txBody>
          <a:bodyPr wrap="none" rtlCol="0">
            <a:spAutoFit/>
          </a:bodyPr>
          <a:lstStyle/>
          <a:p>
            <a:r>
              <a:rPr lang="en-US" sz="3000" b="1" dirty="0"/>
              <a:t>Course Information</a:t>
            </a:r>
          </a:p>
        </p:txBody>
      </p:sp>
      <p:cxnSp>
        <p:nvCxnSpPr>
          <p:cNvPr id="11" name="Straight Arrow Connector 10">
            <a:extLst>
              <a:ext uri="{FF2B5EF4-FFF2-40B4-BE49-F238E27FC236}">
                <a16:creationId xmlns:a16="http://schemas.microsoft.com/office/drawing/2014/main" id="{3AF11429-7288-03E9-CCF0-697379EB3813}"/>
              </a:ext>
            </a:extLst>
          </p:cNvPr>
          <p:cNvCxnSpPr/>
          <p:nvPr/>
        </p:nvCxnSpPr>
        <p:spPr>
          <a:xfrm>
            <a:off x="1136650" y="400050"/>
            <a:ext cx="7175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BC8AF664-ED18-9241-BAEE-F5B5A6A83CFC}"/>
              </a:ext>
            </a:extLst>
          </p:cNvPr>
          <p:cNvSpPr/>
          <p:nvPr/>
        </p:nvSpPr>
        <p:spPr>
          <a:xfrm>
            <a:off x="198773" y="471395"/>
            <a:ext cx="11926986" cy="5909310"/>
          </a:xfrm>
          <a:prstGeom prst="rect">
            <a:avLst/>
          </a:prstGeom>
        </p:spPr>
        <p:txBody>
          <a:bodyPr wrap="square">
            <a:spAutoFit/>
          </a:bodyPr>
          <a:lstStyle/>
          <a:p>
            <a:pPr algn="ctr"/>
            <a:endParaRPr lang="en-US" b="1" dirty="0">
              <a:solidFill>
                <a:srgbClr val="3334B8"/>
              </a:solidFill>
            </a:endParaRPr>
          </a:p>
          <a:p>
            <a:pPr marL="285750" indent="-285750">
              <a:buBlip>
                <a:blip r:embed="rId2"/>
              </a:buBlip>
            </a:pPr>
            <a:r>
              <a:rPr lang="en-US" b="1" dirty="0"/>
              <a:t>Course Notes:</a:t>
            </a:r>
            <a:r>
              <a:rPr lang="en-US" dirty="0"/>
              <a:t> I will provide my hand-written notes. You are highly recommended to make your notes. </a:t>
            </a:r>
          </a:p>
          <a:p>
            <a:endParaRPr lang="en-US" sz="600" dirty="0"/>
          </a:p>
          <a:p>
            <a:pPr marL="285750" indent="-285750">
              <a:buBlip>
                <a:blip r:embed="rId2"/>
              </a:buBlip>
            </a:pPr>
            <a:r>
              <a:rPr lang="en-US" b="1" dirty="0"/>
              <a:t>Reference Material</a:t>
            </a:r>
            <a:r>
              <a:rPr lang="en-US" dirty="0"/>
              <a:t>:</a:t>
            </a:r>
          </a:p>
          <a:p>
            <a:pPr marL="742950" lvl="1" indent="-285750">
              <a:buBlip>
                <a:blip r:embed="rId2"/>
              </a:buBlip>
            </a:pPr>
            <a:r>
              <a:rPr lang="en-US" b="1" dirty="0"/>
              <a:t>Books: </a:t>
            </a:r>
          </a:p>
          <a:p>
            <a:pPr lvl="1"/>
            <a:endParaRPr lang="en-US" sz="600" b="1" dirty="0"/>
          </a:p>
          <a:p>
            <a:pPr marL="1200150" lvl="2" indent="-285750">
              <a:buBlip>
                <a:blip r:embed="rId2"/>
              </a:buBlip>
            </a:pPr>
            <a:r>
              <a:rPr lang="en-US" dirty="0" err="1"/>
              <a:t>Holderrieth</a:t>
            </a:r>
            <a:r>
              <a:rPr lang="en-US" dirty="0"/>
              <a:t>, Peter, and Ezra Erives. </a:t>
            </a:r>
            <a:r>
              <a:rPr lang="en-US" b="1" i="1" dirty="0">
                <a:solidFill>
                  <a:schemeClr val="bg1"/>
                </a:solidFill>
                <a:highlight>
                  <a:srgbClr val="000080"/>
                </a:highlight>
              </a:rPr>
              <a:t>"An Introduction to Flow Matching and Diffusion Models." </a:t>
            </a:r>
            <a:r>
              <a:rPr lang="en-US" i="1" dirty="0" err="1"/>
              <a:t>arXiv</a:t>
            </a:r>
            <a:r>
              <a:rPr lang="en-US" i="1" dirty="0"/>
              <a:t> preprint arXiv:2506.02070</a:t>
            </a:r>
            <a:r>
              <a:rPr lang="en-US" dirty="0"/>
              <a:t> (2025): </a:t>
            </a:r>
            <a:r>
              <a:rPr lang="en-US" sz="1200" dirty="0">
                <a:hlinkClick r:id="rId3"/>
              </a:rPr>
              <a:t>https://arxiv.org/abs/2506.02070</a:t>
            </a:r>
            <a:r>
              <a:rPr lang="en-US" sz="1200" dirty="0"/>
              <a:t> </a:t>
            </a:r>
          </a:p>
          <a:p>
            <a:pPr marL="1200150" lvl="2" indent="-285750">
              <a:buBlip>
                <a:blip r:embed="rId2"/>
              </a:buBlip>
            </a:pPr>
            <a:r>
              <a:rPr lang="en-US" dirty="0"/>
              <a:t>Lai, Chieh-Hsin, et al. </a:t>
            </a:r>
            <a:r>
              <a:rPr lang="en-US" b="1" i="1" dirty="0">
                <a:solidFill>
                  <a:schemeClr val="bg1"/>
                </a:solidFill>
                <a:highlight>
                  <a:srgbClr val="000080"/>
                </a:highlight>
              </a:rPr>
              <a:t>"The principles of diffusion models." </a:t>
            </a:r>
            <a:r>
              <a:rPr lang="en-US" i="1" dirty="0" err="1"/>
              <a:t>arXiv</a:t>
            </a:r>
            <a:r>
              <a:rPr lang="en-US" i="1" dirty="0"/>
              <a:t> preprint arXiv:2510.21890</a:t>
            </a:r>
            <a:r>
              <a:rPr lang="en-US" dirty="0"/>
              <a:t> (2025): </a:t>
            </a:r>
            <a:r>
              <a:rPr lang="en-US" sz="1200" dirty="0">
                <a:hlinkClick r:id="rId4"/>
              </a:rPr>
              <a:t>https://arxiv.org/abs/2510.21890</a:t>
            </a:r>
            <a:r>
              <a:rPr lang="en-US" sz="1200" dirty="0"/>
              <a:t> </a:t>
            </a:r>
          </a:p>
          <a:p>
            <a:pPr marL="1200150" lvl="2" indent="-285750">
              <a:buBlip>
                <a:blip r:embed="rId2"/>
              </a:buBlip>
            </a:pPr>
            <a:r>
              <a:rPr lang="en-US" dirty="0"/>
              <a:t>Zhang, </a:t>
            </a:r>
            <a:r>
              <a:rPr lang="en-US" dirty="0" err="1"/>
              <a:t>Duzhen</a:t>
            </a:r>
            <a:r>
              <a:rPr lang="en-US" dirty="0"/>
              <a:t>, et al. </a:t>
            </a:r>
            <a:r>
              <a:rPr lang="en-US" b="1" i="1" dirty="0">
                <a:solidFill>
                  <a:schemeClr val="bg1"/>
                </a:solidFill>
                <a:highlight>
                  <a:srgbClr val="000080"/>
                </a:highlight>
              </a:rPr>
              <a:t>"Mm-</a:t>
            </a:r>
            <a:r>
              <a:rPr lang="en-US" b="1" i="1" dirty="0" err="1">
                <a:solidFill>
                  <a:schemeClr val="bg1"/>
                </a:solidFill>
                <a:highlight>
                  <a:srgbClr val="000080"/>
                </a:highlight>
              </a:rPr>
              <a:t>llms</a:t>
            </a:r>
            <a:r>
              <a:rPr lang="en-US" b="1" i="1" dirty="0">
                <a:solidFill>
                  <a:schemeClr val="bg1"/>
                </a:solidFill>
                <a:highlight>
                  <a:srgbClr val="000080"/>
                </a:highlight>
              </a:rPr>
              <a:t>: Recent advances in multimodal large language models." </a:t>
            </a:r>
            <a:r>
              <a:rPr lang="en-US" i="1" dirty="0" err="1"/>
              <a:t>arXiv</a:t>
            </a:r>
            <a:r>
              <a:rPr lang="en-US" i="1" dirty="0"/>
              <a:t> preprint arXiv:2401.13601</a:t>
            </a:r>
            <a:r>
              <a:rPr lang="en-US" dirty="0"/>
              <a:t> (2024): </a:t>
            </a:r>
            <a:r>
              <a:rPr lang="en-US" sz="1200" dirty="0">
                <a:hlinkClick r:id="rId5"/>
              </a:rPr>
              <a:t>https://arxiv.org/abs/2401.13601</a:t>
            </a:r>
            <a:r>
              <a:rPr lang="en-US" sz="1200" dirty="0"/>
              <a:t> </a:t>
            </a:r>
          </a:p>
          <a:p>
            <a:pPr lvl="2"/>
            <a:endParaRPr lang="en-US" dirty="0"/>
          </a:p>
          <a:p>
            <a:pPr marL="742950" lvl="1" indent="-285750">
              <a:buBlip>
                <a:blip r:embed="rId2"/>
              </a:buBlip>
            </a:pPr>
            <a:r>
              <a:rPr lang="en-US" b="1" dirty="0">
                <a:highlight>
                  <a:srgbClr val="00FF00"/>
                </a:highlight>
              </a:rPr>
              <a:t>Every PA will contain a reading list of papers.</a:t>
            </a:r>
          </a:p>
          <a:p>
            <a:pPr lvl="1"/>
            <a:endParaRPr lang="en-US" dirty="0"/>
          </a:p>
          <a:p>
            <a:pPr marL="742950" lvl="1" indent="-285750">
              <a:buBlip>
                <a:blip r:embed="rId2"/>
              </a:buBlip>
            </a:pPr>
            <a:r>
              <a:rPr lang="en-US" dirty="0"/>
              <a:t> Following courses are helpful: </a:t>
            </a:r>
          </a:p>
          <a:p>
            <a:pPr lvl="1"/>
            <a:endParaRPr lang="en-US" sz="1200" dirty="0"/>
          </a:p>
          <a:p>
            <a:pPr marL="1200150" lvl="2" indent="-285750">
              <a:buFont typeface="Arial" panose="020B0604020202020204" pitchFamily="34" charset="0"/>
              <a:buChar char="•"/>
            </a:pPr>
            <a:r>
              <a:rPr lang="en-US" dirty="0"/>
              <a:t>Stanford CS336: </a:t>
            </a:r>
            <a:r>
              <a:rPr lang="en-US" b="1" dirty="0">
                <a:highlight>
                  <a:srgbClr val="FFFF00"/>
                </a:highlight>
              </a:rPr>
              <a:t>Language Modeling from Scratch</a:t>
            </a:r>
            <a:r>
              <a:rPr lang="en-US" dirty="0"/>
              <a:t>: </a:t>
            </a:r>
            <a:r>
              <a:rPr lang="en-US" sz="1200" dirty="0">
                <a:hlinkClick r:id="rId6"/>
              </a:rPr>
              <a:t>https://stanford-cs336.github.io/spring2025/</a:t>
            </a:r>
            <a:r>
              <a:rPr lang="en-US" sz="1200" dirty="0"/>
              <a:t> </a:t>
            </a:r>
          </a:p>
          <a:p>
            <a:pPr marL="1200150" lvl="2" indent="-285750">
              <a:buFont typeface="Arial" panose="020B0604020202020204" pitchFamily="34" charset="0"/>
              <a:buChar char="•"/>
            </a:pPr>
            <a:r>
              <a:rPr lang="en-US" dirty="0"/>
              <a:t>MIT Course 6.S184: </a:t>
            </a:r>
            <a:r>
              <a:rPr lang="en-US" b="1" dirty="0">
                <a:highlight>
                  <a:srgbClr val="FFFF00"/>
                </a:highlight>
              </a:rPr>
              <a:t>Introduction to Flow Matching and Diffusion Models</a:t>
            </a:r>
            <a:r>
              <a:rPr lang="en-US" dirty="0"/>
              <a:t>: </a:t>
            </a:r>
            <a:r>
              <a:rPr lang="en-US" sz="1200" dirty="0">
                <a:hlinkClick r:id="rId7"/>
              </a:rPr>
              <a:t>https://diffusion.csail.mit.edu/2026/index.html</a:t>
            </a:r>
            <a:r>
              <a:rPr lang="en-US" sz="1200" dirty="0"/>
              <a:t> </a:t>
            </a:r>
          </a:p>
          <a:p>
            <a:pPr marL="1200150" lvl="2" indent="-285750">
              <a:buFont typeface="Arial" panose="020B0604020202020204" pitchFamily="34" charset="0"/>
              <a:buChar char="•"/>
            </a:pPr>
            <a:r>
              <a:rPr lang="en-US" dirty="0"/>
              <a:t>KAIST CS492(C):</a:t>
            </a:r>
            <a:r>
              <a:rPr lang="en-US" b="1" dirty="0"/>
              <a:t> </a:t>
            </a:r>
            <a:r>
              <a:rPr lang="en-US" b="1" dirty="0">
                <a:highlight>
                  <a:srgbClr val="FFFF00"/>
                </a:highlight>
              </a:rPr>
              <a:t>Diffusion and Flow Models: </a:t>
            </a:r>
            <a:r>
              <a:rPr lang="en-US" sz="1200" dirty="0">
                <a:hlinkClick r:id="rId8"/>
              </a:rPr>
              <a:t>https://diffusion.kaist.ac.kr/</a:t>
            </a:r>
            <a:r>
              <a:rPr lang="en-US" sz="1200" dirty="0"/>
              <a:t> </a:t>
            </a:r>
            <a:endParaRPr lang="en-US" sz="1200" dirty="0">
              <a:highlight>
                <a:srgbClr val="FFFF00"/>
              </a:highlight>
            </a:endParaRPr>
          </a:p>
          <a:p>
            <a:pPr marL="1200150" lvl="2" indent="-285750">
              <a:buFont typeface="Arial" panose="020B0604020202020204" pitchFamily="34" charset="0"/>
              <a:buChar char="•"/>
            </a:pPr>
            <a:r>
              <a:rPr lang="en-US" b="1" dirty="0">
                <a:highlight>
                  <a:srgbClr val="FFFF00"/>
                </a:highlight>
              </a:rPr>
              <a:t>Simple Diffusion Language Modeling</a:t>
            </a:r>
            <a:r>
              <a:rPr lang="en-US" dirty="0"/>
              <a:t>: </a:t>
            </a:r>
            <a:r>
              <a:rPr lang="en-US" sz="1200" dirty="0">
                <a:hlinkClick r:id="rId9"/>
              </a:rPr>
              <a:t>https://github.com/ZHZisZZ/dllm</a:t>
            </a:r>
            <a:r>
              <a:rPr lang="en-US" sz="1200" dirty="0"/>
              <a:t> </a:t>
            </a:r>
            <a:endParaRPr lang="en-US" dirty="0"/>
          </a:p>
          <a:p>
            <a:pPr marL="1200150" lvl="2" indent="-285750">
              <a:buFont typeface="Arial" panose="020B0604020202020204" pitchFamily="34" charset="0"/>
              <a:buChar char="•"/>
            </a:pPr>
            <a:r>
              <a:rPr lang="en-US" dirty="0"/>
              <a:t>CMU 11-777: </a:t>
            </a:r>
            <a:r>
              <a:rPr lang="en-US" b="1" dirty="0">
                <a:highlight>
                  <a:srgbClr val="FFFF00"/>
                </a:highlight>
              </a:rPr>
              <a:t>MultiModal Machine Learning</a:t>
            </a:r>
            <a:r>
              <a:rPr lang="en-US" dirty="0"/>
              <a:t>: </a:t>
            </a:r>
            <a:r>
              <a:rPr lang="en-US" sz="1200" dirty="0">
                <a:hlinkClick r:id="rId10"/>
              </a:rPr>
              <a:t>https://cmu-mmml.github.io/fall2024/</a:t>
            </a:r>
            <a:r>
              <a:rPr lang="en-US" sz="1200" dirty="0"/>
              <a:t> </a:t>
            </a:r>
          </a:p>
          <a:p>
            <a:pPr marL="1200150" lvl="2" indent="-285750">
              <a:buFont typeface="Arial" panose="020B0604020202020204" pitchFamily="34" charset="0"/>
              <a:buChar char="•"/>
            </a:pPr>
            <a:r>
              <a:rPr lang="en-US" dirty="0"/>
              <a:t>Stanford CS224n: </a:t>
            </a:r>
            <a:r>
              <a:rPr lang="en-US" b="1" dirty="0">
                <a:highlight>
                  <a:srgbClr val="FFFF00"/>
                </a:highlight>
              </a:rPr>
              <a:t>Natural Language with deep Learning</a:t>
            </a:r>
            <a:r>
              <a:rPr lang="en-US" dirty="0"/>
              <a:t>: </a:t>
            </a:r>
            <a:r>
              <a:rPr lang="en-US" sz="1200" dirty="0">
                <a:hlinkClick r:id="rId11"/>
              </a:rPr>
              <a:t>https://web.stanford.edu/class/archive/cs/cs224n/cs224n.1184/syllabus.html</a:t>
            </a:r>
            <a:r>
              <a:rPr lang="en-US" sz="1200" dirty="0"/>
              <a:t> </a:t>
            </a:r>
          </a:p>
        </p:txBody>
      </p:sp>
    </p:spTree>
    <p:extLst>
      <p:ext uri="{BB962C8B-B14F-4D97-AF65-F5344CB8AC3E}">
        <p14:creationId xmlns:p14="http://schemas.microsoft.com/office/powerpoint/2010/main" val="3904189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5A31-3817-4700-6D33-54D6E2C2A4D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8BAE9DD-723D-E616-0113-AADBBFE541E9}"/>
              </a:ext>
            </a:extLst>
          </p:cNvPr>
          <p:cNvSpPr/>
          <p:nvPr/>
        </p:nvSpPr>
        <p:spPr>
          <a:xfrm>
            <a:off x="279588" y="215384"/>
            <a:ext cx="788999" cy="369332"/>
          </a:xfrm>
          <a:prstGeom prst="rect">
            <a:avLst/>
          </a:prstGeom>
          <a:solidFill>
            <a:schemeClr val="tx1"/>
          </a:solidFill>
          <a:ln>
            <a:solidFill>
              <a:schemeClr val="tx1"/>
            </a:solidFill>
          </a:ln>
        </p:spPr>
        <p:txBody>
          <a:bodyPr wrap="none">
            <a:spAutoFit/>
          </a:bodyPr>
          <a:lstStyle/>
          <a:p>
            <a:r>
              <a:rPr lang="en-US" b="1" dirty="0">
                <a:solidFill>
                  <a:schemeClr val="bg1"/>
                </a:solidFill>
                <a:effectLst>
                  <a:outerShdw blurRad="38100" dist="38100" dir="2700000" algn="tl">
                    <a:srgbClr val="000000">
                      <a:alpha val="43137"/>
                    </a:srgbClr>
                  </a:outerShdw>
                </a:effectLst>
              </a:rPr>
              <a:t>AI 623</a:t>
            </a:r>
            <a:endParaRPr lang="en-US" dirty="0">
              <a:solidFill>
                <a:schemeClr val="bg1"/>
              </a:solidFill>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6F317130-732D-5E87-DA99-4E2420ED9373}"/>
              </a:ext>
            </a:extLst>
          </p:cNvPr>
          <p:cNvSpPr txBox="1"/>
          <p:nvPr/>
        </p:nvSpPr>
        <p:spPr>
          <a:xfrm>
            <a:off x="1962339" y="123051"/>
            <a:ext cx="3273525" cy="553998"/>
          </a:xfrm>
          <a:prstGeom prst="rect">
            <a:avLst/>
          </a:prstGeom>
          <a:noFill/>
        </p:spPr>
        <p:txBody>
          <a:bodyPr wrap="none" rtlCol="0">
            <a:spAutoFit/>
          </a:bodyPr>
          <a:lstStyle/>
          <a:p>
            <a:r>
              <a:rPr lang="en-US" sz="3000" b="1" dirty="0"/>
              <a:t>Course Information</a:t>
            </a:r>
          </a:p>
        </p:txBody>
      </p:sp>
      <p:cxnSp>
        <p:nvCxnSpPr>
          <p:cNvPr id="11" name="Straight Arrow Connector 10">
            <a:extLst>
              <a:ext uri="{FF2B5EF4-FFF2-40B4-BE49-F238E27FC236}">
                <a16:creationId xmlns:a16="http://schemas.microsoft.com/office/drawing/2014/main" id="{E7A0EFD4-EECC-FC74-E12B-E0B1231472F9}"/>
              </a:ext>
            </a:extLst>
          </p:cNvPr>
          <p:cNvCxnSpPr/>
          <p:nvPr/>
        </p:nvCxnSpPr>
        <p:spPr>
          <a:xfrm>
            <a:off x="1136650" y="400050"/>
            <a:ext cx="7175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5DB39B60-7A36-D232-F23A-72441E3DAFA1}"/>
              </a:ext>
            </a:extLst>
          </p:cNvPr>
          <p:cNvSpPr/>
          <p:nvPr/>
        </p:nvSpPr>
        <p:spPr>
          <a:xfrm>
            <a:off x="196465" y="3133722"/>
            <a:ext cx="11167188" cy="2308324"/>
          </a:xfrm>
          <a:prstGeom prst="rect">
            <a:avLst/>
          </a:prstGeom>
        </p:spPr>
        <p:txBody>
          <a:bodyPr wrap="square">
            <a:spAutoFit/>
          </a:bodyPr>
          <a:lstStyle/>
          <a:p>
            <a:pPr marL="285750" indent="-285750">
              <a:buBlip>
                <a:blip r:embed="rId2"/>
              </a:buBlip>
            </a:pPr>
            <a:r>
              <a:rPr lang="en-US" b="1" dirty="0"/>
              <a:t>PA Evaluations Policy</a:t>
            </a:r>
            <a:r>
              <a:rPr lang="en-US" dirty="0"/>
              <a:t>: </a:t>
            </a:r>
          </a:p>
          <a:p>
            <a:pPr marL="742950" lvl="1" indent="-285750">
              <a:buBlip>
                <a:blip r:embed="rId2"/>
              </a:buBlip>
            </a:pPr>
            <a:r>
              <a:rPr lang="en-US" dirty="0"/>
              <a:t>Programming Assignments (PAs) will be conducted individually.</a:t>
            </a:r>
          </a:p>
          <a:p>
            <a:pPr marL="742950" lvl="1" indent="-285750">
              <a:buBlip>
                <a:blip r:embed="rId2"/>
              </a:buBlip>
            </a:pPr>
            <a:r>
              <a:rPr lang="en-US" dirty="0"/>
              <a:t>For each PA, all required notebooks will be released on a specified date.</a:t>
            </a:r>
          </a:p>
          <a:p>
            <a:pPr marL="742950" lvl="1" indent="-285750">
              <a:buBlip>
                <a:blip r:embed="rId2"/>
              </a:buBlip>
            </a:pPr>
            <a:r>
              <a:rPr lang="en-US" dirty="0"/>
              <a:t>Students must complete the PA within the assigned time window.</a:t>
            </a:r>
          </a:p>
          <a:p>
            <a:pPr marL="742950" lvl="1" indent="-285750">
              <a:buBlip>
                <a:blip r:embed="rId2"/>
              </a:buBlip>
            </a:pPr>
            <a:r>
              <a:rPr lang="en-US" dirty="0"/>
              <a:t>We will NOT grade your submissions. During grading period, each PA will be evaluated through two components:</a:t>
            </a:r>
          </a:p>
          <a:p>
            <a:pPr marL="1200150" lvl="2" indent="-285750">
              <a:buFont typeface="Courier New" panose="02070309020205020404" pitchFamily="49" charset="0"/>
              <a:buChar char="o"/>
            </a:pPr>
            <a:r>
              <a:rPr lang="en-US" i="1" dirty="0">
                <a:effectLst>
                  <a:outerShdw blurRad="38100" dist="38100" dir="2700000" algn="tl">
                    <a:srgbClr val="000000">
                      <a:alpha val="43137"/>
                    </a:srgbClr>
                  </a:outerShdw>
                </a:effectLst>
              </a:rPr>
              <a:t>Oral Assessment</a:t>
            </a:r>
            <a:r>
              <a:rPr lang="en-US" i="1" dirty="0"/>
              <a:t>: 60% of the PA grade</a:t>
            </a:r>
          </a:p>
          <a:p>
            <a:pPr marL="1200150" lvl="2" indent="-285750">
              <a:buFont typeface="Courier New" panose="02070309020205020404" pitchFamily="49" charset="0"/>
              <a:buChar char="o"/>
            </a:pPr>
            <a:r>
              <a:rPr lang="en-US" i="1" dirty="0">
                <a:effectLst>
                  <a:outerShdw blurRad="38100" dist="38100" dir="2700000" algn="tl">
                    <a:srgbClr val="000000">
                      <a:alpha val="43137"/>
                    </a:srgbClr>
                  </a:outerShdw>
                </a:effectLst>
              </a:rPr>
              <a:t>Written Assessment</a:t>
            </a:r>
            <a:r>
              <a:rPr lang="en-US" i="1" dirty="0"/>
              <a:t>: 40% of the PA grade</a:t>
            </a:r>
          </a:p>
        </p:txBody>
      </p:sp>
      <p:sp>
        <p:nvSpPr>
          <p:cNvPr id="17" name="Rectangle 16">
            <a:extLst>
              <a:ext uri="{FF2B5EF4-FFF2-40B4-BE49-F238E27FC236}">
                <a16:creationId xmlns:a16="http://schemas.microsoft.com/office/drawing/2014/main" id="{52982266-A9C4-D20E-6551-F451E11C1941}"/>
              </a:ext>
            </a:extLst>
          </p:cNvPr>
          <p:cNvSpPr/>
          <p:nvPr/>
        </p:nvSpPr>
        <p:spPr>
          <a:xfrm>
            <a:off x="279588" y="5495204"/>
            <a:ext cx="11167188" cy="1200329"/>
          </a:xfrm>
          <a:prstGeom prst="rect">
            <a:avLst/>
          </a:prstGeom>
        </p:spPr>
        <p:txBody>
          <a:bodyPr wrap="square">
            <a:spAutoFit/>
          </a:bodyPr>
          <a:lstStyle/>
          <a:p>
            <a:pPr marL="285750" indent="-285750">
              <a:buBlip>
                <a:blip r:embed="rId2"/>
              </a:buBlip>
            </a:pPr>
            <a:r>
              <a:rPr lang="en-US" b="1" dirty="0"/>
              <a:t>Final Project Evaluations</a:t>
            </a:r>
            <a:r>
              <a:rPr lang="en-US" dirty="0"/>
              <a:t>: </a:t>
            </a:r>
          </a:p>
          <a:p>
            <a:pPr marL="742950" lvl="1" indent="-285750">
              <a:buBlip>
                <a:blip r:embed="rId2"/>
              </a:buBlip>
            </a:pPr>
            <a:r>
              <a:rPr lang="en-US" dirty="0"/>
              <a:t>Final project will be performed in a group of 2-3 people. </a:t>
            </a:r>
          </a:p>
          <a:p>
            <a:pPr marL="742950" lvl="1" indent="-285750">
              <a:buBlip>
                <a:blip r:embed="rId2"/>
              </a:buBlip>
            </a:pPr>
            <a:r>
              <a:rPr lang="en-US" dirty="0"/>
              <a:t>We will assign final projects in the mid of March. </a:t>
            </a:r>
          </a:p>
          <a:p>
            <a:pPr marL="742950" lvl="1" indent="-285750">
              <a:buBlip>
                <a:blip r:embed="rId2"/>
              </a:buBlip>
            </a:pPr>
            <a:r>
              <a:rPr lang="en-US" dirty="0"/>
              <a:t>As a submission, we will need: </a:t>
            </a:r>
            <a:r>
              <a:rPr lang="en-US" dirty="0">
                <a:highlight>
                  <a:srgbClr val="FFFF00"/>
                </a:highlight>
              </a:rPr>
              <a:t>a PDF report </a:t>
            </a:r>
            <a:r>
              <a:rPr lang="en-US" dirty="0"/>
              <a:t>+ </a:t>
            </a:r>
            <a:r>
              <a:rPr lang="en-US" dirty="0">
                <a:highlight>
                  <a:srgbClr val="00FF00"/>
                </a:highlight>
              </a:rPr>
              <a:t>Code repo. </a:t>
            </a:r>
            <a:r>
              <a:rPr lang="en-US" dirty="0"/>
              <a:t>+ </a:t>
            </a:r>
            <a:r>
              <a:rPr lang="en-US" dirty="0">
                <a:highlight>
                  <a:srgbClr val="CEF5F5"/>
                </a:highlight>
              </a:rPr>
              <a:t>Group Presentation </a:t>
            </a:r>
            <a:r>
              <a:rPr lang="en-US" dirty="0"/>
              <a:t>+ </a:t>
            </a:r>
            <a:r>
              <a:rPr lang="en-US" dirty="0">
                <a:highlight>
                  <a:srgbClr val="FFFF00"/>
                </a:highlight>
              </a:rPr>
              <a:t>Individual Oral Viva </a:t>
            </a:r>
          </a:p>
        </p:txBody>
      </p:sp>
      <p:sp>
        <p:nvSpPr>
          <p:cNvPr id="23" name="Rectangle 22">
            <a:extLst>
              <a:ext uri="{FF2B5EF4-FFF2-40B4-BE49-F238E27FC236}">
                <a16:creationId xmlns:a16="http://schemas.microsoft.com/office/drawing/2014/main" id="{E584381A-5FE3-CF3C-53A6-CEFC740C5BD5}"/>
              </a:ext>
            </a:extLst>
          </p:cNvPr>
          <p:cNvSpPr/>
          <p:nvPr/>
        </p:nvSpPr>
        <p:spPr>
          <a:xfrm>
            <a:off x="189485" y="677049"/>
            <a:ext cx="11374037" cy="1877437"/>
          </a:xfrm>
          <a:prstGeom prst="rect">
            <a:avLst/>
          </a:prstGeom>
        </p:spPr>
        <p:txBody>
          <a:bodyPr wrap="square">
            <a:spAutoFit/>
          </a:bodyPr>
          <a:lstStyle/>
          <a:p>
            <a:pPr algn="ctr"/>
            <a:endParaRPr lang="en-US" b="1" dirty="0">
              <a:solidFill>
                <a:srgbClr val="3334B8"/>
              </a:solidFill>
            </a:endParaRPr>
          </a:p>
          <a:p>
            <a:pPr marL="285750" indent="-285750">
              <a:buBlip>
                <a:blip r:embed="rId2"/>
              </a:buBlip>
            </a:pPr>
            <a:r>
              <a:rPr lang="en-US" b="1" dirty="0"/>
              <a:t>AI Usage Policy</a:t>
            </a:r>
            <a:r>
              <a:rPr lang="en-US" dirty="0"/>
              <a:t>: Overreliance on generative AI will give you a false sense of how much you’ve actually learned, which will lead to poor performance in future work or studies after graduation. We recommend you </a:t>
            </a:r>
            <a:r>
              <a:rPr lang="en-US" b="1" dirty="0">
                <a:highlight>
                  <a:srgbClr val="FFFF00"/>
                </a:highlight>
              </a:rPr>
              <a:t>use generative AI as a supplementary tool </a:t>
            </a:r>
            <a:r>
              <a:rPr lang="en-US" dirty="0"/>
              <a:t>only for exploration and/or drafting the PA/project code/content.</a:t>
            </a:r>
            <a:endParaRPr lang="en-US" sz="1400" dirty="0"/>
          </a:p>
          <a:p>
            <a:pPr marL="285750" indent="-285750">
              <a:buBlip>
                <a:blip r:embed="rId2"/>
              </a:buBlip>
            </a:pPr>
            <a:endParaRPr lang="en-US" dirty="0"/>
          </a:p>
          <a:p>
            <a:endParaRPr lang="en-US" sz="800" dirty="0"/>
          </a:p>
          <a:p>
            <a:pPr lvl="1"/>
            <a:r>
              <a:rPr lang="en-US" dirty="0"/>
              <a:t> </a:t>
            </a:r>
          </a:p>
        </p:txBody>
      </p:sp>
      <p:sp>
        <p:nvSpPr>
          <p:cNvPr id="22" name="Rectangle 21">
            <a:extLst>
              <a:ext uri="{FF2B5EF4-FFF2-40B4-BE49-F238E27FC236}">
                <a16:creationId xmlns:a16="http://schemas.microsoft.com/office/drawing/2014/main" id="{AAF9EC1A-ADDB-8505-F4BA-C7DFFBBF86B1}"/>
              </a:ext>
            </a:extLst>
          </p:cNvPr>
          <p:cNvSpPr/>
          <p:nvPr/>
        </p:nvSpPr>
        <p:spPr>
          <a:xfrm>
            <a:off x="196465" y="1880235"/>
            <a:ext cx="11167188" cy="1200329"/>
          </a:xfrm>
          <a:prstGeom prst="rect">
            <a:avLst/>
          </a:prstGeom>
        </p:spPr>
        <p:txBody>
          <a:bodyPr wrap="square">
            <a:spAutoFit/>
          </a:bodyPr>
          <a:lstStyle/>
          <a:p>
            <a:pPr marL="285750" indent="-285750">
              <a:buBlip>
                <a:blip r:embed="rId2"/>
              </a:buBlip>
            </a:pPr>
            <a:r>
              <a:rPr lang="en-US" b="1" dirty="0"/>
              <a:t>Plagiarism Policy</a:t>
            </a:r>
            <a:r>
              <a:rPr lang="en-US" dirty="0"/>
              <a:t>: </a:t>
            </a:r>
          </a:p>
          <a:p>
            <a:pPr marL="742950" lvl="1" indent="-285750">
              <a:buBlip>
                <a:blip r:embed="rId2"/>
              </a:buBlip>
            </a:pPr>
            <a:r>
              <a:rPr lang="en-US" dirty="0"/>
              <a:t>Collaboration on the PAs is not allowed. Discussion of assignments is allowed BUT it should be limited to concept clarification without sharing of pseudocode or code or results or solved problems. </a:t>
            </a:r>
          </a:p>
          <a:p>
            <a:pPr marL="742950" lvl="1" indent="-285750">
              <a:buBlip>
                <a:blip r:embed="rId2"/>
              </a:buBlip>
            </a:pPr>
            <a:r>
              <a:rPr lang="en-US" dirty="0"/>
              <a:t>Violation of this policy will be used as grounds for a disciplinary action in accordance with LUMS regulations. </a:t>
            </a:r>
          </a:p>
        </p:txBody>
      </p:sp>
    </p:spTree>
    <p:extLst>
      <p:ext uri="{BB962C8B-B14F-4D97-AF65-F5344CB8AC3E}">
        <p14:creationId xmlns:p14="http://schemas.microsoft.com/office/powerpoint/2010/main" val="3657126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9C6C6-319C-0CDF-CABB-6D3903D6610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345454A-C526-CFC4-35B1-4284C9206DFC}"/>
              </a:ext>
            </a:extLst>
          </p:cNvPr>
          <p:cNvSpPr/>
          <p:nvPr/>
        </p:nvSpPr>
        <p:spPr>
          <a:xfrm>
            <a:off x="279588" y="215384"/>
            <a:ext cx="788999" cy="369332"/>
          </a:xfrm>
          <a:prstGeom prst="rect">
            <a:avLst/>
          </a:prstGeom>
          <a:solidFill>
            <a:schemeClr val="tx1"/>
          </a:solidFill>
          <a:ln>
            <a:solidFill>
              <a:schemeClr val="tx1"/>
            </a:solidFill>
          </a:ln>
        </p:spPr>
        <p:txBody>
          <a:bodyPr wrap="none">
            <a:spAutoFit/>
          </a:bodyPr>
          <a:lstStyle/>
          <a:p>
            <a:r>
              <a:rPr lang="en-US" b="1" dirty="0">
                <a:solidFill>
                  <a:schemeClr val="bg1"/>
                </a:solidFill>
                <a:effectLst>
                  <a:outerShdw blurRad="38100" dist="38100" dir="2700000" algn="tl">
                    <a:srgbClr val="000000">
                      <a:alpha val="43137"/>
                    </a:srgbClr>
                  </a:outerShdw>
                </a:effectLst>
              </a:rPr>
              <a:t>AI 623</a:t>
            </a:r>
            <a:endParaRPr lang="en-US" dirty="0">
              <a:solidFill>
                <a:schemeClr val="bg1"/>
              </a:solidFill>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236CB945-6556-DC06-3901-7705CC4F5C9C}"/>
              </a:ext>
            </a:extLst>
          </p:cNvPr>
          <p:cNvSpPr txBox="1"/>
          <p:nvPr/>
        </p:nvSpPr>
        <p:spPr>
          <a:xfrm>
            <a:off x="1962339" y="123051"/>
            <a:ext cx="3244799" cy="553998"/>
          </a:xfrm>
          <a:prstGeom prst="rect">
            <a:avLst/>
          </a:prstGeom>
          <a:noFill/>
        </p:spPr>
        <p:txBody>
          <a:bodyPr wrap="none" rtlCol="0">
            <a:spAutoFit/>
          </a:bodyPr>
          <a:lstStyle/>
          <a:p>
            <a:r>
              <a:rPr lang="en-US" sz="3000" b="1" dirty="0"/>
              <a:t>MultiModal Basics</a:t>
            </a:r>
          </a:p>
        </p:txBody>
      </p:sp>
      <p:cxnSp>
        <p:nvCxnSpPr>
          <p:cNvPr id="11" name="Straight Arrow Connector 10">
            <a:extLst>
              <a:ext uri="{FF2B5EF4-FFF2-40B4-BE49-F238E27FC236}">
                <a16:creationId xmlns:a16="http://schemas.microsoft.com/office/drawing/2014/main" id="{98682336-3BD4-A9A1-8303-8C2C20266223}"/>
              </a:ext>
            </a:extLst>
          </p:cNvPr>
          <p:cNvCxnSpPr/>
          <p:nvPr/>
        </p:nvCxnSpPr>
        <p:spPr>
          <a:xfrm>
            <a:off x="1136650" y="400050"/>
            <a:ext cx="7175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5B367490-6587-FC14-8B22-082D4C935059}"/>
              </a:ext>
            </a:extLst>
          </p:cNvPr>
          <p:cNvSpPr/>
          <p:nvPr/>
        </p:nvSpPr>
        <p:spPr>
          <a:xfrm>
            <a:off x="279588" y="677049"/>
            <a:ext cx="11677414" cy="830997"/>
          </a:xfrm>
          <a:prstGeom prst="rect">
            <a:avLst/>
          </a:prstGeom>
          <a:solidFill>
            <a:schemeClr val="tx2"/>
          </a:solidFill>
          <a:ln>
            <a:solidFill>
              <a:srgbClr val="FFF4E8"/>
            </a:solidFill>
          </a:ln>
        </p:spPr>
        <p:txBody>
          <a:bodyPr wrap="square">
            <a:spAutoFit/>
          </a:bodyPr>
          <a:lstStyle/>
          <a:p>
            <a:pPr algn="ctr"/>
            <a:r>
              <a:rPr lang="en-US" sz="2400" dirty="0">
                <a:solidFill>
                  <a:schemeClr val="bg1"/>
                </a:solidFill>
              </a:rPr>
              <a:t>This is an advance course on </a:t>
            </a:r>
            <a:r>
              <a:rPr lang="en-US" sz="2400" b="1" i="1" dirty="0">
                <a:solidFill>
                  <a:schemeClr val="bg1"/>
                </a:solidFill>
              </a:rPr>
              <a:t>Multimodal (Large) Language Models (MLLMs) </a:t>
            </a:r>
            <a:r>
              <a:rPr lang="en-US" sz="2400" dirty="0">
                <a:solidFill>
                  <a:schemeClr val="bg1"/>
                </a:solidFill>
              </a:rPr>
              <a:t>but focuses on only two modalities: Text and Images</a:t>
            </a:r>
          </a:p>
        </p:txBody>
      </p:sp>
      <p:pic>
        <p:nvPicPr>
          <p:cNvPr id="5" name="Picture 4">
            <a:extLst>
              <a:ext uri="{FF2B5EF4-FFF2-40B4-BE49-F238E27FC236}">
                <a16:creationId xmlns:a16="http://schemas.microsoft.com/office/drawing/2014/main" id="{7627568F-BA44-77A6-3FA8-D76DC68BA394}"/>
              </a:ext>
            </a:extLst>
          </p:cNvPr>
          <p:cNvPicPr>
            <a:picLocks noChangeAspect="1"/>
          </p:cNvPicPr>
          <p:nvPr/>
        </p:nvPicPr>
        <p:blipFill>
          <a:blip r:embed="rId2"/>
          <a:stretch>
            <a:fillRect/>
          </a:stretch>
        </p:blipFill>
        <p:spPr>
          <a:xfrm>
            <a:off x="272048" y="1728430"/>
            <a:ext cx="11619983" cy="4755292"/>
          </a:xfrm>
          <a:prstGeom prst="rect">
            <a:avLst/>
          </a:prstGeom>
        </p:spPr>
      </p:pic>
    </p:spTree>
    <p:extLst>
      <p:ext uri="{BB962C8B-B14F-4D97-AF65-F5344CB8AC3E}">
        <p14:creationId xmlns:p14="http://schemas.microsoft.com/office/powerpoint/2010/main" val="4851691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1862</TotalTime>
  <Words>922</Words>
  <Application>Microsoft Office PowerPoint</Application>
  <PresentationFormat>Widescreen</PresentationFormat>
  <Paragraphs>88</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Tahir</dc:creator>
  <cp:lastModifiedBy>Muhammad Tahir</cp:lastModifiedBy>
  <cp:revision>280</cp:revision>
  <dcterms:created xsi:type="dcterms:W3CDTF">2023-06-19T13:50:56Z</dcterms:created>
  <dcterms:modified xsi:type="dcterms:W3CDTF">2026-01-24T09:35:23Z</dcterms:modified>
</cp:coreProperties>
</file>