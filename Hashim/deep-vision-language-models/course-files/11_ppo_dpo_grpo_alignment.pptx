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students through the pipeline step by step. Clarify the roles of the base model, reward model, and reference model. The KL divergence penalty is central to all three algorithms and should be emphasized here before diving into each method.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 that PPO was among the first methods applied to LLM alignment at scale. Highlight the four models involved in training and why this makes PPO computationally demanding. Connect the KL penalty to the optimal policy derivation students will encounter analytically.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DPO and GRPO as more efficient alternatives to PPO. For DPO, stress that the reward is implicit — derived from log-probability ratios between the policy and reference model. For GRPO, explain that group-relative reward normalization reduces variance without a value network.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slide to consolidate the comparison. Encourage students to think about trade-offs: PPO is flexible but heavy; DPO is simple but needs offline preference data; GRPO balances reward-based training with efficiency. Remind students to review the required readings and maintain their working documents.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PPO, DPO, GRPO</a:t>
            </a:r>
          </a:p>
        </p:txBody>
      </p:sp>
      <p:sp>
        <p:nvSpPr>
          <p:cNvPr id="3" name="Subtitle 2"/>
          <p:cNvSpPr>
            <a:spLocks noGrp="1"/>
          </p:cNvSpPr>
          <p:nvPr>
            <p:ph type="subTitle" idx="1"/>
          </p:nvPr>
        </p:nvSpPr>
        <p:spPr/>
        <p:txBody>
          <a:bodyPr/>
          <a:lstStyle/>
          <a:p>
            <a:r>
              <a:t>5 slides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r>
              <a:t>LLM Alignment: PPO, DPO, and GRPO</a:t>
            </a:r>
          </a:p>
        </p:txBody>
      </p:sp>
      <p:sp>
        <p:nvSpPr>
          <p:cNvPr id="3" name="Subtitle 2"/>
          <p:cNvSpPr>
            <a:spLocks noGrp="1"/>
          </p:cNvSpPr>
          <p:nvPr>
            <p:ph type="subTitle" idx="1"/>
          </p:nvPr>
        </p:nvSpPr>
        <p:spPr/>
        <p:txBody>
          <a:bodyPr/>
          <a:lstStyle/>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The LLM Alignment Pipeline</a:t>
            </a:r>
          </a:p>
        </p:txBody>
      </p:sp>
      <p:sp>
        <p:nvSpPr>
          <p:cNvPr id="3" name="Content Placeholder 2"/>
          <p:cNvSpPr>
            <a:spLocks noGrp="1"/>
          </p:cNvSpPr>
          <p:nvPr>
            <p:ph idx="1"/>
          </p:nvPr>
        </p:nvSpPr>
        <p:spPr/>
        <p:txBody>
          <a:bodyPr/>
          <a:lstStyle/>
          <a:p>
            <a:pPr/>
            <a:r>
              <a:t>Alignment: making LLMs helpful, harmless, and honest</a:t>
            </a:r>
          </a:p>
          <a:p>
            <a:pPr/>
            <a:r>
              <a:t>Starts with a pre-trained base language model</a:t>
            </a:r>
          </a:p>
          <a:p>
            <a:pPr/>
            <a:r>
              <a:t>Human preference data used as training signal</a:t>
            </a:r>
          </a:p>
          <a:p>
            <a:pPr/>
            <a:r>
              <a:t>Reward model trained to score model outputs</a:t>
            </a:r>
          </a:p>
          <a:p>
            <a:pPr/>
            <a:r>
              <a:t>Policy optimization applied to update the LLM</a:t>
            </a:r>
          </a:p>
          <a:p>
            <a:pPr/>
            <a:r>
              <a:t>KL divergence constrains policy from drifting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Proximal Policy Optimization (PPO) for LLMs</a:t>
            </a:r>
          </a:p>
        </p:txBody>
      </p:sp>
      <p:sp>
        <p:nvSpPr>
          <p:cNvPr id="3" name="Content Placeholder 2"/>
          <p:cNvSpPr>
            <a:spLocks noGrp="1"/>
          </p:cNvSpPr>
          <p:nvPr>
            <p:ph idx="1"/>
          </p:nvPr>
        </p:nvSpPr>
        <p:spPr/>
        <p:txBody>
          <a:bodyPr/>
          <a:lstStyle/>
          <a:p>
            <a:pPr/>
            <a:r>
              <a:t>PPO is a reinforcement learning from human feedback method</a:t>
            </a:r>
          </a:p>
          <a:p>
            <a:pPr/>
            <a:r>
              <a:t>Requires a separately trained reward model</a:t>
            </a:r>
          </a:p>
          <a:p>
            <a:pPr/>
            <a:r>
              <a:t>Language model treated as the policy</a:t>
            </a:r>
          </a:p>
          <a:p>
            <a:pPr/>
            <a:r>
              <a:t>Optimizes RLHF objective with KL penalty</a:t>
            </a:r>
          </a:p>
          <a:p>
            <a:pPr/>
            <a:r>
              <a:t>Needs policy, reference, reward, and critic models</a:t>
            </a:r>
          </a:p>
          <a:p>
            <a:pPr/>
            <a:r>
              <a:t>Most complex setup among the three methods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Direct Preference Optimization (DPO) and GRPO</a:t>
            </a:r>
          </a:p>
        </p:txBody>
      </p:sp>
      <p:sp>
        <p:nvSpPr>
          <p:cNvPr id="3" name="Content Placeholder 2"/>
          <p:cNvSpPr>
            <a:spLocks noGrp="1"/>
          </p:cNvSpPr>
          <p:nvPr>
            <p:ph idx="1"/>
          </p:nvPr>
        </p:nvSpPr>
        <p:spPr/>
        <p:txBody>
          <a:bodyPr/>
          <a:lstStyle/>
          <a:p>
            <a:pPr/>
            <a:r>
              <a:t>DPO: no separate reward model required</a:t>
            </a:r>
          </a:p>
          <a:p>
            <a:pPr/>
            <a:r>
              <a:t>DPO uses pairwise preference data directly</a:t>
            </a:r>
          </a:p>
          <a:p>
            <a:pPr/>
            <a:r>
              <a:t>Loss derived by reparameterizing RLHF objective</a:t>
            </a:r>
          </a:p>
          <a:p>
            <a:pPr/>
            <a:r>
              <a:t>GRPO: no critic model needed</a:t>
            </a:r>
          </a:p>
          <a:p>
            <a:pPr/>
            <a:r>
              <a:t>GRPO samples a group of outputs per prompt</a:t>
            </a:r>
          </a:p>
          <a:p>
            <a:pPr/>
            <a:r>
              <a:t>GRPO normalizes rewards relative to the group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Summary: Comparing Alignment Methods</a:t>
            </a:r>
          </a:p>
        </p:txBody>
      </p:sp>
      <p:sp>
        <p:nvSpPr>
          <p:cNvPr id="3" name="Content Placeholder 2"/>
          <p:cNvSpPr>
            <a:spLocks noGrp="1"/>
          </p:cNvSpPr>
          <p:nvPr>
            <p:ph idx="1"/>
          </p:nvPr>
        </p:nvSpPr>
        <p:spPr/>
        <p:txBody>
          <a:bodyPr/>
          <a:lstStyle/>
          <a:p>
            <a:pPr/>
            <a:r>
              <a:t>PPO: full RLHF pipeline, highest complexity</a:t>
            </a:r>
          </a:p>
          <a:p>
            <a:pPr/>
            <a:r>
              <a:t>DPO: preference pairs only, no reward model</a:t>
            </a:r>
          </a:p>
          <a:p>
            <a:pPr/>
            <a:r>
              <a:t>GRPO: group sampling, no critic model</a:t>
            </a:r>
          </a:p>
          <a:p>
            <a:pPr/>
            <a:r>
              <a:t>All methods use a reference model for KL control</a:t>
            </a:r>
          </a:p>
          <a:p>
            <a:pPr/>
            <a:r>
              <a:t>LoRA and PEFT enable efficient implementation</a:t>
            </a:r>
          </a:p>
          <a:p>
            <a:pPr/>
            <a:r>
              <a:t>Understanding tested via viva and written quiz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