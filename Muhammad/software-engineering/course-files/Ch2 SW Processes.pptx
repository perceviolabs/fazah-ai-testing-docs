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4" roundtripDataSignature="AMtx7mjFUjV30mXyW6eg0jWDC3OdJf9/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1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  <a:defRPr b="0" i="0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46424D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46424D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46424D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3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4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5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6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" name="Google Shape;14;p59"/>
          <p:cNvGrpSpPr/>
          <p:nvPr/>
        </p:nvGrpSpPr>
        <p:grpSpPr>
          <a:xfrm>
            <a:off x="457200" y="256035"/>
            <a:ext cx="8218749" cy="1163191"/>
            <a:chOff x="457200" y="256035"/>
            <a:chExt cx="8218749" cy="1163191"/>
          </a:xfrm>
        </p:grpSpPr>
        <p:pic>
          <p:nvPicPr>
            <p:cNvPr id="15" name="Google Shape;15;p5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716696" y="256035"/>
              <a:ext cx="959253" cy="11520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" name="Google Shape;16;p59"/>
            <p:cNvCxnSpPr/>
            <p:nvPr/>
          </p:nvCxnSpPr>
          <p:spPr>
            <a:xfrm flipH="1" rot="10800000">
              <a:off x="457200" y="1417638"/>
              <a:ext cx="8217026" cy="1588"/>
            </a:xfrm>
            <a:prstGeom prst="straightConnector1">
              <a:avLst/>
            </a:prstGeom>
            <a:noFill/>
            <a:ln cap="flat" cmpd="sng" w="254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wipe dir="r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– Software Processes</a:t>
            </a:r>
            <a:endParaRPr/>
          </a:p>
        </p:txBody>
      </p:sp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66722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Topics covered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Software process models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Process activities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Coping with change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Process improvement</a:t>
            </a:r>
            <a:endParaRPr/>
          </a:p>
        </p:txBody>
      </p:sp>
      <p:sp>
        <p:nvSpPr>
          <p:cNvPr id="100" name="Google Shape;10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software process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 structured set of activities required to develop a </a:t>
            </a:r>
            <a:br>
              <a:rPr lang="en-GB"/>
            </a:br>
            <a:r>
              <a:rPr lang="en-GB"/>
              <a:t>software system.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Many different software processes but all involve: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Specification – defining what the system should do;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Design and implementation – defining the organization of the system and implementing the system;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Validation – checking that it does what the customer wants;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Evolution – changing the system in response to changing customer needs.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 software process model is an abstract representation of a process. It presents a description of a process from some particular perspective.</a:t>
            </a:r>
            <a:endParaRPr/>
          </a:p>
        </p:txBody>
      </p:sp>
      <p:sp>
        <p:nvSpPr>
          <p:cNvPr id="109" name="Google Shape;10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10" name="Google Shape;1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process descriptions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When we describe and discuss processes, we usually talk about the activities in these processes such as specifying a data model, designing a user interface, etc. and the ordering of these activities.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Process descriptions may also include: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Products, which are the outcomes of a process activity; 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Roles, which reflect the responsibilities of the people involved in the process;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Pre- and post-conditions, which are statements that are true before and after a process activity has been enacted or a product produced.   </a:t>
            </a:r>
            <a:endParaRPr/>
          </a:p>
        </p:txBody>
      </p:sp>
      <p:sp>
        <p:nvSpPr>
          <p:cNvPr id="118" name="Google Shape;11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19" name="Google Shape;11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0" name="Google Shape;12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Plan-driven and agile processes</a:t>
            </a: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Plan-driven processes are processes where all of the process activities are planned in advance and progress is measured against this plan.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 agile processes, planning is incremental and it is easier to change the process to reflect changing customer requirements.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 practice, most practical processes include elements of both plan-driven and agile approaches.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There are no right or wrong software processes.</a:t>
            </a:r>
            <a:endParaRPr/>
          </a:p>
        </p:txBody>
      </p:sp>
      <p:sp>
        <p:nvSpPr>
          <p:cNvPr id="127" name="Google Shape;12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9" name="Google Shape;1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0" y="214788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process models</a:t>
            </a:r>
            <a:endParaRPr/>
          </a:p>
        </p:txBody>
      </p:sp>
      <p:sp>
        <p:nvSpPr>
          <p:cNvPr id="135" name="Google Shape;13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process models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waterfall model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Plan-driven model. Separate and distinct phases of specification and development.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Incremental development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Specification, development and validation are interleaved. May be plan-driven or agile.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Integration and configuration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system is assembled from existing configurable components. May be plan-driven or agile.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 practice, most large systems are developed using a process that incorporates elements from all of these models.</a:t>
            </a:r>
            <a:endParaRPr/>
          </a:p>
        </p:txBody>
      </p:sp>
      <p:sp>
        <p:nvSpPr>
          <p:cNvPr id="144" name="Google Shape;14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45" name="Google Shape;14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waterfall model</a:t>
            </a:r>
            <a:br>
              <a:rPr lang="en-GB"/>
            </a:br>
            <a:endParaRPr/>
          </a:p>
        </p:txBody>
      </p:sp>
      <p:sp>
        <p:nvSpPr>
          <p:cNvPr id="152" name="Google Shape;1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1.Waterfall-model.eps"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053" y="1931942"/>
            <a:ext cx="7183698" cy="403946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Waterfall model phases</a:t>
            </a:r>
            <a:endParaRPr/>
          </a:p>
        </p:txBody>
      </p:sp>
      <p:sp>
        <p:nvSpPr>
          <p:cNvPr id="161" name="Google Shape;16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There are separate identified phases in the waterfall model: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Requirements analysis and definition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System and software design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Implementation and unit testing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Integration and system testing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Operation and maintenance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main drawback of the waterfall model is the difficulty of accommodating change after the process is underway. In principle, a phase has to be complete before moving onto the next phase.</a:t>
            </a:r>
            <a:endParaRPr/>
          </a:p>
        </p:txBody>
      </p:sp>
      <p:sp>
        <p:nvSpPr>
          <p:cNvPr id="162" name="Google Shape;16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63" name="Google Shape;16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Waterfall model problems</a:t>
            </a:r>
            <a:endParaRPr/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Inflexible partitioning of the project into distinct stages makes it difficult to respond to changing customer requirements.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Therefore, this model is only appropriate when the requirements are well-understood and changes will be fairly limited during the design process. 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Few business systems have stable requirements.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waterfall model is mostly used for large systems engineering projects where a system is developed at several sites.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In those circumstances, the plan-driven nature of the waterfall model helps coordinate the work. </a:t>
            </a:r>
            <a:endParaRPr/>
          </a:p>
        </p:txBody>
      </p:sp>
      <p:sp>
        <p:nvSpPr>
          <p:cNvPr id="171" name="Google Shape;17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72" name="Google Shape;17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development </a:t>
            </a:r>
            <a:br>
              <a:rPr lang="en-GB"/>
            </a:br>
            <a:endParaRPr/>
          </a:p>
        </p:txBody>
      </p:sp>
      <p:sp>
        <p:nvSpPr>
          <p:cNvPr id="179" name="Google Shape;1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80" name="Google Shape;1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2 Incremental-dev.eps"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92460"/>
            <a:ext cx="7517728" cy="4051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development benefits</a:t>
            </a:r>
            <a:endParaRPr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cost of accommodating changing customer requirements is reduced.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amount of analysis and documentation that has to be redone is much less than is required with the waterfall model.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It is easier to get customer feedback on the development work that has been done.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Customers can comment on demonstrations of the software and see how much has been implemented. 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More rapid delivery and deployment of useful software to the customer is possible.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Customers are able to use and gain value from the software earlier than is possible with a waterfall process. </a:t>
            </a:r>
            <a:endParaRPr/>
          </a:p>
        </p:txBody>
      </p:sp>
      <p:sp>
        <p:nvSpPr>
          <p:cNvPr id="189" name="Google Shape;18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90" name="Google Shape;19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development problems</a:t>
            </a:r>
            <a:endParaRPr/>
          </a:p>
        </p:txBody>
      </p:sp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process is not visible.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Managers need regular deliverables to measure progress. If systems are developed quickly, it is not cost-effective to produce documents that reflect every version of the system. 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System structure tends to degrade as new increments are added</a:t>
            </a:r>
            <a:r>
              <a:rPr i="1" lang="en-GB"/>
              <a:t>. </a:t>
            </a:r>
            <a:r>
              <a:rPr lang="en-GB"/>
              <a:t>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Unless time and money is spent on refactoring to improve the software, regular change tends to corrupt its structure. Incorporating further software changes becomes increasingly difficult and costly. </a:t>
            </a:r>
            <a:endParaRPr/>
          </a:p>
        </p:txBody>
      </p:sp>
      <p:sp>
        <p:nvSpPr>
          <p:cNvPr id="198" name="Google Shape;19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199" name="Google Shape;19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Integration and configuration</a:t>
            </a:r>
            <a:endParaRPr/>
          </a:p>
        </p:txBody>
      </p:sp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Based on software reuse where systems are integrated from existing components or application systems (sometimes called COTS -Commercial-off-the-shelf) systems).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Reused elements may be configured to adapt their behaviour and functionality to a user’s requirements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Reuse is now the standard approach for building many types of business system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Reuse covered in more depth in Chapter 15.</a:t>
            </a:r>
            <a:endParaRPr/>
          </a:p>
        </p:txBody>
      </p:sp>
      <p:sp>
        <p:nvSpPr>
          <p:cNvPr id="207" name="Google Shape;20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08" name="Google Shape;20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9" name="Google Shape;20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reusable software</a:t>
            </a:r>
            <a:endParaRPr/>
          </a:p>
        </p:txBody>
      </p:sp>
      <p:sp>
        <p:nvSpPr>
          <p:cNvPr id="215" name="Google Shape;215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Stand-alone application systems (sometimes called COTS) that are configured for use in a particular environment.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Collections of objects that are developed as a package to be integrated with a component framework such as .NET or J2EE.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Web services that are developed according to service standards and which are available for remote invocation. </a:t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6" name="Google Shape;21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17" name="Google Shape;21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Reuse-oriented software engineering</a:t>
            </a:r>
            <a:endParaRPr/>
          </a:p>
        </p:txBody>
      </p:sp>
      <p:sp>
        <p:nvSpPr>
          <p:cNvPr id="224" name="Google Shape;22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25" name="Google Shape;22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3 Reuse oriented SE.eps" id="226" name="Google Shape;2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550" y="2326734"/>
            <a:ext cx="8793575" cy="36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process stages</a:t>
            </a:r>
            <a:endParaRPr/>
          </a:p>
        </p:txBody>
      </p:sp>
      <p:sp>
        <p:nvSpPr>
          <p:cNvPr id="233" name="Google Shape;23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Requirements specification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Software discovery and evaluation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Requirements refinement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Application system configuration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Component adaptation and integration</a:t>
            </a:r>
            <a:endParaRPr/>
          </a:p>
        </p:txBody>
      </p:sp>
      <p:sp>
        <p:nvSpPr>
          <p:cNvPr id="234" name="Google Shape;2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35" name="Google Shape;2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6" name="Google Shape;23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and disadvantages</a:t>
            </a:r>
            <a:endParaRPr/>
          </a:p>
        </p:txBody>
      </p:sp>
      <p:sp>
        <p:nvSpPr>
          <p:cNvPr id="242" name="Google Shape;242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Reduced costs and risks as less software is developed from scratch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Faster delivery and deployment of system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But requirements compromises are inevitable so system may not meet real needs of users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Loss of control over evolution of reused system elements</a:t>
            </a:r>
            <a:endParaRPr/>
          </a:p>
        </p:txBody>
      </p:sp>
      <p:sp>
        <p:nvSpPr>
          <p:cNvPr id="243" name="Google Shape;2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44" name="Google Shape;2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5" name="Google Shape;24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/>
          <p:nvPr>
            <p:ph type="title"/>
          </p:nvPr>
        </p:nvSpPr>
        <p:spPr>
          <a:xfrm>
            <a:off x="457200" y="22431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 activities</a:t>
            </a:r>
            <a:endParaRPr/>
          </a:p>
        </p:txBody>
      </p:sp>
      <p:sp>
        <p:nvSpPr>
          <p:cNvPr id="251" name="Google Shape;2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52" name="Google Shape;2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3" name="Google Shape;25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 activities</a:t>
            </a:r>
            <a:endParaRPr/>
          </a:p>
        </p:txBody>
      </p:sp>
      <p:sp>
        <p:nvSpPr>
          <p:cNvPr id="259" name="Google Shape;25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Real software processes are inter-leaved sequences of technical, collaborative and managerial activities with the overall goal of specifying, designing, implementing and testing a software system.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four basic process activities of specification, development, validation and evolution are organized differently in different development processes.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For example, in the waterfall model, they are organized in sequence, whereas in incremental development they are interleaved. </a:t>
            </a:r>
            <a:endParaRPr/>
          </a:p>
        </p:txBody>
      </p:sp>
      <p:sp>
        <p:nvSpPr>
          <p:cNvPr id="260" name="Google Shape;26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61" name="Google Shape;26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requirements engineering process</a:t>
            </a:r>
            <a:br>
              <a:rPr lang="en-GB"/>
            </a:br>
            <a:endParaRPr/>
          </a:p>
        </p:txBody>
      </p:sp>
      <p:sp>
        <p:nvSpPr>
          <p:cNvPr id="268" name="Google Shape;26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69" name="Google Shape;26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4 RE-process.eps" id="270" name="Google Shape;2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762" y="1720552"/>
            <a:ext cx="6339334" cy="439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specification</a:t>
            </a:r>
            <a:endParaRPr/>
          </a:p>
        </p:txBody>
      </p:sp>
      <p:sp>
        <p:nvSpPr>
          <p:cNvPr id="277" name="Google Shape;277;p22"/>
          <p:cNvSpPr txBox="1"/>
          <p:nvPr>
            <p:ph idx="1" type="body"/>
          </p:nvPr>
        </p:nvSpPr>
        <p:spPr>
          <a:xfrm>
            <a:off x="416664" y="1600200"/>
            <a:ext cx="84604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process of establishing what services are required and the constraints on the system’s operation and development.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Requirements engineering process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Requirements elicitation and analysis</a:t>
            </a:r>
            <a:endParaRPr/>
          </a:p>
          <a:p>
            <a:pPr indent="-228600" lvl="2" marL="1143000" rtl="0" algn="l">
              <a:spcBef>
                <a:spcPts val="660"/>
              </a:spcBef>
              <a:spcAft>
                <a:spcPts val="0"/>
              </a:spcAft>
              <a:buClr>
                <a:srgbClr val="46424D"/>
              </a:buClr>
              <a:buSzPts val="1800"/>
              <a:buChar char="•"/>
            </a:pPr>
            <a:r>
              <a:rPr lang="en-GB"/>
              <a:t>What do the system stakeholders require or expect from the system?</a:t>
            </a:r>
            <a:endParaRPr/>
          </a:p>
          <a:p>
            <a:pPr indent="-285750" lvl="1" marL="742950" rtl="0" algn="l">
              <a:spcBef>
                <a:spcPts val="3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Requirements specification	</a:t>
            </a:r>
            <a:endParaRPr/>
          </a:p>
          <a:p>
            <a:pPr indent="-228600" lvl="2" marL="1143000" rtl="0" algn="l">
              <a:spcBef>
                <a:spcPts val="660"/>
              </a:spcBef>
              <a:spcAft>
                <a:spcPts val="0"/>
              </a:spcAft>
              <a:buClr>
                <a:srgbClr val="46424D"/>
              </a:buClr>
              <a:buSzPts val="1800"/>
              <a:buChar char="•"/>
            </a:pPr>
            <a:r>
              <a:rPr lang="en-GB"/>
              <a:t>Defining the requirements in detail</a:t>
            </a:r>
            <a:endParaRPr/>
          </a:p>
          <a:p>
            <a:pPr indent="-285750" lvl="1" marL="742950" rtl="0" algn="l">
              <a:spcBef>
                <a:spcPts val="3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Requirements validation</a:t>
            </a:r>
            <a:endParaRPr/>
          </a:p>
          <a:p>
            <a:pPr indent="-228600" lvl="2" marL="1143000" rtl="0" algn="l">
              <a:spcBef>
                <a:spcPts val="660"/>
              </a:spcBef>
              <a:spcAft>
                <a:spcPts val="0"/>
              </a:spcAft>
              <a:buClr>
                <a:srgbClr val="46424D"/>
              </a:buClr>
              <a:buSzPts val="1800"/>
              <a:buChar char="•"/>
            </a:pPr>
            <a:r>
              <a:rPr lang="en-GB"/>
              <a:t>Checking the validity of the requirements</a:t>
            </a:r>
            <a:endParaRPr/>
          </a:p>
        </p:txBody>
      </p:sp>
      <p:sp>
        <p:nvSpPr>
          <p:cNvPr id="278" name="Google Shape;2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79" name="Google Shape;2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" name="Google Shape;28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design and implementation</a:t>
            </a:r>
            <a:endParaRPr/>
          </a:p>
        </p:txBody>
      </p:sp>
      <p:sp>
        <p:nvSpPr>
          <p:cNvPr id="286" name="Google Shape;28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process of converting the system specification into an executable system.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Software design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Design a software structure that realises the specification;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Implementation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Translate this structure into an executable program;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activities of design and implementation are closely related and may be inter-leaved.</a:t>
            </a:r>
            <a:endParaRPr/>
          </a:p>
        </p:txBody>
      </p:sp>
      <p:sp>
        <p:nvSpPr>
          <p:cNvPr id="287" name="Google Shape;28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88" name="Google Shape;28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9" name="Google Shape;28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general model of the design process </a:t>
            </a:r>
            <a:br>
              <a:rPr lang="en-GB"/>
            </a:br>
            <a:endParaRPr/>
          </a:p>
        </p:txBody>
      </p:sp>
      <p:sp>
        <p:nvSpPr>
          <p:cNvPr id="295" name="Google Shape;29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296" name="Google Shape;29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5 Design-process.eps"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243" y="1638390"/>
            <a:ext cx="6211739" cy="4638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 activities</a:t>
            </a:r>
            <a:endParaRPr/>
          </a:p>
        </p:txBody>
      </p:sp>
      <p:sp>
        <p:nvSpPr>
          <p:cNvPr id="304" name="Google Shape;304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i="1" lang="en-GB"/>
              <a:t>Architectural design,</a:t>
            </a:r>
            <a:r>
              <a:rPr lang="en-GB"/>
              <a:t> where you identify the overall structure of the system, the principal components (subsystems or modules), their relationships and how they are distributed.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i="1" lang="en-GB"/>
              <a:t>Database design, </a:t>
            </a:r>
            <a:r>
              <a:rPr lang="en-GB"/>
              <a:t>where you design the system data structures and how these are to be represented in a database.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i="1" lang="en-GB"/>
              <a:t>Interface design,</a:t>
            </a:r>
            <a:r>
              <a:rPr lang="en-GB"/>
              <a:t> where you define the interfaces between system components.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i="1" lang="en-GB"/>
              <a:t>Component selection and design, </a:t>
            </a:r>
            <a:r>
              <a:rPr lang="en-GB"/>
              <a:t>where you search for reusable components. If unavailable, you design how it will operate. </a:t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06" name="Google Shape;30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7" name="Google Shape;30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implementation</a:t>
            </a:r>
            <a:endParaRPr/>
          </a:p>
        </p:txBody>
      </p:sp>
      <p:sp>
        <p:nvSpPr>
          <p:cNvPr id="313" name="Google Shape;31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software is implemented either by developing a program or programs or by configuring an application system.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Design and implementation are interleaved activities for most types of software system.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Programming is an individual activity with no standard process.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Debugging is the activity of finding program faults and correcting these faults.</a:t>
            </a:r>
            <a:endParaRPr/>
          </a:p>
        </p:txBody>
      </p:sp>
      <p:sp>
        <p:nvSpPr>
          <p:cNvPr id="314" name="Google Shape;31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15" name="Google Shape;31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6" name="Google Shape;31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validation</a:t>
            </a:r>
            <a:endParaRPr/>
          </a:p>
        </p:txBody>
      </p:sp>
      <p:sp>
        <p:nvSpPr>
          <p:cNvPr id="322" name="Google Shape;322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Verification and validation (V &amp; V) is intended to show that a system conforms to its specification and meets the requirements of the system customer.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Involves checking and review processes and system testing.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System testing involves executing the system with test cases that are derived from the specification of the real data to be processed by the system.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Testing is the most commonly used V &amp; V activity.</a:t>
            </a:r>
            <a:endParaRPr/>
          </a:p>
        </p:txBody>
      </p:sp>
      <p:sp>
        <p:nvSpPr>
          <p:cNvPr id="323" name="Google Shape;32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24" name="Google Shape;32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5" name="Google Shape;32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Stages of testing</a:t>
            </a:r>
            <a:br>
              <a:rPr lang="en-GB"/>
            </a:br>
            <a:endParaRPr/>
          </a:p>
        </p:txBody>
      </p:sp>
      <p:sp>
        <p:nvSpPr>
          <p:cNvPr id="331" name="Google Shape;3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32" name="Google Shape;3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6 Testing-process.eps" id="333" name="Google Shape;3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6409" y="2829344"/>
            <a:ext cx="6277535" cy="170704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stages</a:t>
            </a:r>
            <a:endParaRPr/>
          </a:p>
        </p:txBody>
      </p:sp>
      <p:sp>
        <p:nvSpPr>
          <p:cNvPr id="340" name="Google Shape;340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Component testing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Individual components are tested independently; 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Components may be functions or objects or coherent groupings of these entities.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System testing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Testing of the system as a whole. Testing of emergent properties is particularly important.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Customer testing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Testing with customer data to check that the system meets the customer’s needs.</a:t>
            </a:r>
            <a:endParaRPr/>
          </a:p>
        </p:txBody>
      </p:sp>
      <p:sp>
        <p:nvSpPr>
          <p:cNvPr id="341" name="Google Shape;34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42" name="Google Shape;34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phases in a plan-driven software process (V-model)</a:t>
            </a:r>
            <a:endParaRPr/>
          </a:p>
        </p:txBody>
      </p:sp>
      <p:sp>
        <p:nvSpPr>
          <p:cNvPr id="349" name="Google Shape;34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50" name="Google Shape;35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7 Testing-phases.eps" id="351" name="Google Shape;35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957" y="2186304"/>
            <a:ext cx="8647437" cy="298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evolution</a:t>
            </a:r>
            <a:endParaRPr/>
          </a:p>
        </p:txBody>
      </p:sp>
      <p:sp>
        <p:nvSpPr>
          <p:cNvPr id="358" name="Google Shape;358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Software is inherently flexible and can change.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As requirements change through changing business circumstances, the software that supports the business must also evolve and change.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Although there has been a demarcation between development and evolution (maintenance) this is increasingly irrelevant as fewer and fewer systems are completely new.</a:t>
            </a:r>
            <a:endParaRPr/>
          </a:p>
        </p:txBody>
      </p:sp>
      <p:sp>
        <p:nvSpPr>
          <p:cNvPr id="359" name="Google Shape;3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60" name="Google Shape;3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1" name="Google Shape;36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evolution </a:t>
            </a:r>
            <a:endParaRPr/>
          </a:p>
        </p:txBody>
      </p:sp>
      <p:sp>
        <p:nvSpPr>
          <p:cNvPr id="367" name="Google Shape;36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68" name="Google Shape;36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8 System evolution.eps" id="369" name="Google Shape;3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178" y="2563931"/>
            <a:ext cx="7567072" cy="232833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57200" y="23807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Coping with change</a:t>
            </a:r>
            <a:endParaRPr/>
          </a:p>
        </p:txBody>
      </p:sp>
      <p:sp>
        <p:nvSpPr>
          <p:cNvPr id="376" name="Google Shape;37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77" name="Google Shape;37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8" name="Google Shape;37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Coping with change</a:t>
            </a:r>
            <a:endParaRPr/>
          </a:p>
        </p:txBody>
      </p:sp>
      <p:sp>
        <p:nvSpPr>
          <p:cNvPr id="384" name="Google Shape;384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Change is inevitable in all large software projects.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Business changes lead to new and changed system requirements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New technologies open up new possibilities for improving implementations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Changing platforms require application changes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Change leads to rework so the costs of change include both rework (e.g. re-analysing requirements) as well as the costs of implementing new functionality</a:t>
            </a:r>
            <a:endParaRPr/>
          </a:p>
        </p:txBody>
      </p:sp>
      <p:sp>
        <p:nvSpPr>
          <p:cNvPr id="385" name="Google Shape;38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86" name="Google Shape;38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7" name="Google Shape;38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Reducing the costs of rework</a:t>
            </a:r>
            <a:endParaRPr/>
          </a:p>
        </p:txBody>
      </p:sp>
      <p:sp>
        <p:nvSpPr>
          <p:cNvPr id="393" name="Google Shape;393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Change anticipation, where the software process includes activities that can anticipate possible changes before significant rework is required.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For example, a prototype system may be developed to show some key features of the system to customers. 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Change tolerance, where the process is designed so that changes can be accommodated at relatively low cost.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This normally involves some form of incremental development. Proposed changes may be implemented in increments that have not yet been developed. If this is impossible, then only a single increment (a small part of the system) may have be altered to incorporate the change.</a:t>
            </a:r>
            <a:endParaRPr/>
          </a:p>
          <a:p>
            <a:pPr indent="-1905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94" name="Google Shape;394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395" name="Google Shape;39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6" name="Google Shape;39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Coping with changing requirements</a:t>
            </a:r>
            <a:endParaRPr/>
          </a:p>
        </p:txBody>
      </p:sp>
      <p:sp>
        <p:nvSpPr>
          <p:cNvPr id="402" name="Google Shape;402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System prototyping, where a version of the system or part of the system is developed quickly to check the customer’s requirements and the feasibility of design decisions. This approach supports change anticipation.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Incremental delivery, where system increments are delivered to the customer for comment and experimentation. This supports both change avoidance and change tolerance. </a:t>
            </a:r>
            <a:endParaRPr/>
          </a:p>
        </p:txBody>
      </p:sp>
      <p:sp>
        <p:nvSpPr>
          <p:cNvPr id="403" name="Google Shape;40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04" name="Google Shape;40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5" name="Google Shape;40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prototyping</a:t>
            </a:r>
            <a:endParaRPr/>
          </a:p>
        </p:txBody>
      </p:sp>
      <p:sp>
        <p:nvSpPr>
          <p:cNvPr id="411" name="Google Shape;411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 prototype is an initial version of a system used to demonstrate concepts and try out design options.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 prototype can be used in: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requirements engineering process to help with requirements elicitation and validation;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In design processes to explore options and develop a UI design;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In the testing process to run back-to-back tests.</a:t>
            </a:r>
            <a:endParaRPr/>
          </a:p>
        </p:txBody>
      </p:sp>
      <p:sp>
        <p:nvSpPr>
          <p:cNvPr id="412" name="Google Shape;41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13" name="Google Shape;41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4" name="Google Shape;41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prototyping</a:t>
            </a:r>
            <a:endParaRPr/>
          </a:p>
        </p:txBody>
      </p:sp>
      <p:sp>
        <p:nvSpPr>
          <p:cNvPr id="420" name="Google Shape;420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Improved system usability.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A closer match to users’ real needs.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Improved design quality.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Improved maintainability.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Reduced development effort.</a:t>
            </a:r>
            <a:endParaRPr/>
          </a:p>
        </p:txBody>
      </p:sp>
      <p:sp>
        <p:nvSpPr>
          <p:cNvPr id="421" name="Google Shape;42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22" name="Google Shape;42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3" name="Google Shape;423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process of prototype development</a:t>
            </a:r>
            <a:br>
              <a:rPr lang="en-GB"/>
            </a:br>
            <a:endParaRPr/>
          </a:p>
        </p:txBody>
      </p:sp>
      <p:sp>
        <p:nvSpPr>
          <p:cNvPr id="429" name="Google Shape;42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30" name="Google Shape;43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9 PrototypeProcess.eps" id="431" name="Google Shape;43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575" y="2608352"/>
            <a:ext cx="7627164" cy="2162927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development</a:t>
            </a:r>
            <a:endParaRPr/>
          </a:p>
        </p:txBody>
      </p:sp>
      <p:sp>
        <p:nvSpPr>
          <p:cNvPr id="438" name="Google Shape;438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May be based on rapid prototyping languages or tools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May involve leaving out functionality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Prototype should focus on areas of the product that are not well-understood;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Error checking and recovery may not be included in the prototype;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Focus on functional rather than non-functional requirements such as reliability and security</a:t>
            </a:r>
            <a:endParaRPr/>
          </a:p>
        </p:txBody>
      </p:sp>
      <p:sp>
        <p:nvSpPr>
          <p:cNvPr id="439" name="Google Shape;43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40" name="Google Shape;44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1" name="Google Shape;44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1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Throw-away prototypes</a:t>
            </a:r>
            <a:endParaRPr/>
          </a:p>
        </p:txBody>
      </p:sp>
      <p:sp>
        <p:nvSpPr>
          <p:cNvPr id="447" name="Google Shape;44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Prototypes should be discarded after development as they are not a good basis for a production system: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It may be impossible to tune the system to meet non-functional requirements;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Prototypes are normally undocumented;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prototype structure is usually degraded through rapid change;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prototype probably will not meet normal organisational quality standards.</a:t>
            </a:r>
            <a:endParaRPr/>
          </a:p>
        </p:txBody>
      </p:sp>
      <p:sp>
        <p:nvSpPr>
          <p:cNvPr id="448" name="Google Shape;44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49" name="Google Shape;44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0" name="Google Shape;45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delivery</a:t>
            </a:r>
            <a:endParaRPr/>
          </a:p>
        </p:txBody>
      </p:sp>
      <p:sp>
        <p:nvSpPr>
          <p:cNvPr id="456" name="Google Shape;456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Rather than deliver the system as a single delivery, the development and delivery is broken down into increments with each increment delivering part of the required functionality.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User requirements are prioritised and the highest priority requirements are included in early increments.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Once the development of an increment is started, the requirements are frozen though requirements for later increments can continue to evolve.</a:t>
            </a:r>
            <a:endParaRPr/>
          </a:p>
        </p:txBody>
      </p:sp>
      <p:sp>
        <p:nvSpPr>
          <p:cNvPr id="457" name="Google Shape;45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58" name="Google Shape;45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9" name="Google Shape;459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3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development and delivery</a:t>
            </a:r>
            <a:endParaRPr/>
          </a:p>
        </p:txBody>
      </p:sp>
      <p:sp>
        <p:nvSpPr>
          <p:cNvPr id="465" name="Google Shape;465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Incremental development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Develop the system in increments and evaluate each increment before proceeding to the development of the next increment;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Normal approach used in agile methods;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Evaluation done by user/customer proxy.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Incremental delivery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Deploy an increment for use by end-users;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More realistic evaluation about practical use of software;</a:t>
            </a:r>
            <a:endParaRPr/>
          </a:p>
          <a:p>
            <a:pPr indent="-285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Difficult to implement for replacement systems as increments have less functionality than the system being replaced.</a:t>
            </a:r>
            <a:endParaRPr/>
          </a:p>
          <a:p>
            <a:pPr indent="-158750" lvl="1" marL="742950" rtl="0" algn="l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67" name="Google Shape;46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8" name="Google Shape;46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delivery </a:t>
            </a:r>
            <a:endParaRPr/>
          </a:p>
        </p:txBody>
      </p:sp>
      <p:sp>
        <p:nvSpPr>
          <p:cNvPr id="474" name="Google Shape;474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75" name="Google Shape;475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2.10 Incremental-delivery.eps" id="476" name="Google Shape;4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53036"/>
            <a:ext cx="8172017" cy="276724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delivery advantages</a:t>
            </a:r>
            <a:endParaRPr/>
          </a:p>
        </p:txBody>
      </p:sp>
      <p:sp>
        <p:nvSpPr>
          <p:cNvPr id="483" name="Google Shape;48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Customer value can be delivered with each increment so system functionality is available earlier.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Early increments act as a prototype to help elicit requirements for later increments.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Lower risk of overall project failure.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highest priority system services tend to receive the most testing.</a:t>
            </a:r>
            <a:endParaRPr/>
          </a:p>
        </p:txBody>
      </p:sp>
      <p:sp>
        <p:nvSpPr>
          <p:cNvPr id="484" name="Google Shape;484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85" name="Google Shape;485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6" name="Google Shape;486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6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delivery problems</a:t>
            </a:r>
            <a:endParaRPr/>
          </a:p>
        </p:txBody>
      </p:sp>
      <p:sp>
        <p:nvSpPr>
          <p:cNvPr id="492" name="Google Shape;492;p46"/>
          <p:cNvSpPr txBox="1"/>
          <p:nvPr>
            <p:ph idx="1" type="body"/>
          </p:nvPr>
        </p:nvSpPr>
        <p:spPr>
          <a:xfrm>
            <a:off x="3378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Most systems require a set of basic facilities that are used by different parts of the system.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As requirements are not defined in detail until an increment is to be implemented, it can be hard to identify common facilities that are needed by all increments. 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essence of iterative processes is that the specification is developed in conjunction with the software.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However, this conflicts with the procurement model of many organizations, where the complete system specification is part of the system development contract. </a:t>
            </a:r>
            <a:endParaRPr/>
          </a:p>
          <a:p>
            <a:pPr indent="-1905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93" name="Google Shape;49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494" name="Google Shape;49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5" name="Google Shape;49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7"/>
          <p:cNvSpPr txBox="1"/>
          <p:nvPr>
            <p:ph type="title"/>
          </p:nvPr>
        </p:nvSpPr>
        <p:spPr>
          <a:xfrm>
            <a:off x="457200" y="23278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 improvement</a:t>
            </a:r>
            <a:endParaRPr/>
          </a:p>
        </p:txBody>
      </p:sp>
      <p:sp>
        <p:nvSpPr>
          <p:cNvPr id="501" name="Google Shape;501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02" name="Google Shape;502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3" name="Google Shape;503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8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 improvement</a:t>
            </a:r>
            <a:endParaRPr/>
          </a:p>
        </p:txBody>
      </p:sp>
      <p:sp>
        <p:nvSpPr>
          <p:cNvPr id="509" name="Google Shape;509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Many software companies have turned to software process improvement as a way of enhancing the quality of their software, reducing costs or accelerating their development processes.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Process improvement means understanding existing processes and changing these processes to increase product quality and/or reduce costs and development time. </a:t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10" name="Google Shape;510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11" name="Google Shape;511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2" name="Google Shape;512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 to improvement</a:t>
            </a:r>
            <a:endParaRPr/>
          </a:p>
        </p:txBody>
      </p:sp>
      <p:sp>
        <p:nvSpPr>
          <p:cNvPr id="518" name="Google Shape;518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process maturity approach, which focuses on improving process  and project management and introducing good software engineering practice.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level of process maturity reflects the extent to which good technical and management practice has been adopted in organizational software development processes. 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agile approach, which focuses on iterative development and the reduction of overheads in the software process.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primary characteristics of agile methods are rapid delivery of functionality and responsiveness to changing customer requirements.</a:t>
            </a:r>
            <a:endParaRPr/>
          </a:p>
          <a:p>
            <a:pPr indent="-1905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19" name="Google Shape;519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20" name="Google Shape;520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1" name="Google Shape;52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0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process improvement cycle </a:t>
            </a:r>
            <a:endParaRPr/>
          </a:p>
        </p:txBody>
      </p:sp>
      <p:pic>
        <p:nvPicPr>
          <p:cNvPr descr="26.3 Process improvement.eps" id="527" name="Google Shape;527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2227" l="0" r="0" t="-5976"/>
          <a:stretch/>
        </p:blipFill>
        <p:spPr>
          <a:xfrm>
            <a:off x="1760331" y="1698510"/>
            <a:ext cx="4876799" cy="411066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29" name="Google Shape;52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0" name="Google Shape;5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1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 improvement activities</a:t>
            </a:r>
            <a:endParaRPr/>
          </a:p>
        </p:txBody>
      </p:sp>
      <p:sp>
        <p:nvSpPr>
          <p:cNvPr id="536" name="Google Shape;536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i="1" lang="en-GB"/>
              <a:t>Process measurement </a:t>
            </a:r>
            <a:endParaRPr i="1"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You measure one or more attributes of the software process or product. These measurements forms a baseline that helps you decide if process improvements have been effective.  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i="1" lang="en-GB"/>
              <a:t>Process analysis</a:t>
            </a:r>
            <a:r>
              <a:rPr lang="en-GB"/>
              <a:t>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The current process is assessed, and process weaknesses and bottlenecks are identified. Process models (sometimes called process maps) that describe the process may be developed.  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i="1" lang="en-GB"/>
              <a:t>Process change </a:t>
            </a:r>
            <a:endParaRPr i="1"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Process changes are proposed to address some of the identified process weaknesses. These are introduced and the cycle resumes to collect data about the effectiveness of the changes.</a:t>
            </a:r>
            <a:endParaRPr/>
          </a:p>
        </p:txBody>
      </p:sp>
      <p:sp>
        <p:nvSpPr>
          <p:cNvPr id="537" name="Google Shape;53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38" name="Google Shape;53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9" name="Google Shape;539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 measurement</a:t>
            </a:r>
            <a:endParaRPr/>
          </a:p>
        </p:txBody>
      </p:sp>
      <p:sp>
        <p:nvSpPr>
          <p:cNvPr id="545" name="Google Shape;545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 sz="2400"/>
              <a:t>Wherever possible, quantitative process data </a:t>
            </a:r>
            <a:br>
              <a:rPr lang="en-GB" sz="2400"/>
            </a:br>
            <a:r>
              <a:rPr lang="en-GB" sz="2400"/>
              <a:t>should be collected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 sz="2000"/>
              <a:t>However, where organisations do not have clearly defined process standards this is very difficult as you don’t know what to measure. A process may have to be defined before any measurement is possible.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 sz="2400"/>
              <a:t>Process measurements should be used to </a:t>
            </a:r>
            <a:br>
              <a:rPr lang="en-GB" sz="2400"/>
            </a:br>
            <a:r>
              <a:rPr lang="en-GB" sz="2400"/>
              <a:t>assess process improvements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 sz="2000"/>
              <a:t>But this does not mean that measurements should drive the improvements. The improvement driver should be the organizational objectives.</a:t>
            </a:r>
            <a:endParaRPr/>
          </a:p>
        </p:txBody>
      </p:sp>
      <p:sp>
        <p:nvSpPr>
          <p:cNvPr id="546" name="Google Shape;546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47" name="Google Shape;547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8" name="Google Shape;548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3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 metrics</a:t>
            </a:r>
            <a:endParaRPr/>
          </a:p>
        </p:txBody>
      </p:sp>
      <p:sp>
        <p:nvSpPr>
          <p:cNvPr id="554" name="Google Shape;554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Time taken for process activities to be </a:t>
            </a:r>
            <a:br>
              <a:rPr lang="en-GB"/>
            </a:br>
            <a:r>
              <a:rPr lang="en-GB"/>
              <a:t>completed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E.g. Calendar time or effort to complete an activity or process.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Resources required for processes or activities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E.g. Total effort in person-days.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Number of occurrences of a particular event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E.g. Number of defects discovered.</a:t>
            </a:r>
            <a:endParaRPr/>
          </a:p>
        </p:txBody>
      </p:sp>
      <p:sp>
        <p:nvSpPr>
          <p:cNvPr id="555" name="Google Shape;555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56" name="Google Shape;556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7" name="Google Shape;557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Capability maturity levels</a:t>
            </a:r>
            <a:endParaRPr/>
          </a:p>
        </p:txBody>
      </p:sp>
      <p:pic>
        <p:nvPicPr>
          <p:cNvPr descr="26.10 StagesCMMI.eps" id="563" name="Google Shape;563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4028" l="0" r="0" t="-12585"/>
          <a:stretch/>
        </p:blipFill>
        <p:spPr>
          <a:xfrm>
            <a:off x="938696" y="1567571"/>
            <a:ext cx="6681304" cy="50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65" name="Google Shape;565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6" name="Google Shape;566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5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SEI capability maturity model</a:t>
            </a:r>
            <a:endParaRPr/>
          </a:p>
        </p:txBody>
      </p:sp>
      <p:sp>
        <p:nvSpPr>
          <p:cNvPr id="572" name="Google Shape;572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Initial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Essentially uncontrolled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Repeatable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Product management procedures defined and used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Defined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Process management procedures and strategies defined </a:t>
            </a:r>
            <a:br>
              <a:rPr lang="en-GB"/>
            </a:br>
            <a:r>
              <a:rPr lang="en-GB"/>
              <a:t>and used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Managed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Quality management strategies defined and used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Optimising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Process improvement strategies defined and used</a:t>
            </a:r>
            <a:endParaRPr/>
          </a:p>
        </p:txBody>
      </p:sp>
      <p:sp>
        <p:nvSpPr>
          <p:cNvPr id="573" name="Google Shape;573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74" name="Google Shape;574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5" name="Google Shape;57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6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points</a:t>
            </a:r>
            <a:endParaRPr/>
          </a:p>
        </p:txBody>
      </p:sp>
      <p:sp>
        <p:nvSpPr>
          <p:cNvPr id="581" name="Google Shape;581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Software processes are the activities involved in producing a software system. Software process models are abstract representations of these processes.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General process models describe the organization of software processes. </a:t>
            </a:r>
            <a:endParaRPr/>
          </a:p>
          <a:p>
            <a:pPr indent="-285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GB"/>
              <a:t>Examples of these general models include the ‘waterfall’ model,  incremental development, and reuse-oriented development.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Requirements engineering is the process of developing a software specification.</a:t>
            </a:r>
            <a:endParaRPr/>
          </a:p>
          <a:p>
            <a:pPr indent="-158750" lvl="1" marL="742950" rtl="0" algn="l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82" name="Google Shape;58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83" name="Google Shape;58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4" name="Google Shape;584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7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points</a:t>
            </a:r>
            <a:endParaRPr/>
          </a:p>
        </p:txBody>
      </p:sp>
      <p:sp>
        <p:nvSpPr>
          <p:cNvPr id="590" name="Google Shape;590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Design and implementation processes are concerned with transforming a requirements specification into an executable software system. 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Software validation is the process of checking that the system conforms to its specification and that it meets the real needs of the users of the system.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Software evolution takes place when you change existing software systems to meet new requirements. The software must evolve to remain useful.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Processes should include activities such as prototyping and incremental delivery to cope with change.</a:t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91" name="Google Shape;591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592" name="Google Shape;592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3" name="Google Shape;593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points</a:t>
            </a:r>
            <a:endParaRPr/>
          </a:p>
        </p:txBody>
      </p:sp>
      <p:sp>
        <p:nvSpPr>
          <p:cNvPr id="599" name="Google Shape;599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Processes may be structured for iterative development and delivery so that changes may be made without disrupting the system as a whole.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 The principal approaches to process improvement are agile approaches, geared to reducing process overheads, and maturity-based approaches based on better process management and the use of good software engineering practice.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GB"/>
              <a:t>The SEI process maturity framework identifies maturity levels that essentially correspond to the use of good software engineering practice.</a:t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00" name="Google Shape;600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2 Software Processes</a:t>
            </a:r>
            <a:endParaRPr/>
          </a:p>
        </p:txBody>
      </p:sp>
      <p:sp>
        <p:nvSpPr>
          <p:cNvPr id="601" name="Google Shape;601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2" name="Google Shape;602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30/10/2014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xmlns:r="http://schemas.openxmlformats.org/officeDocument/2006/relationships" name="SE10 slide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2010-01-06T19:57:16Z</dcterms:created>
  <dc:creator>Ian Sommerville</dc:creator>
</cp:coreProperties>
</file>