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16" r:id="rId1"/>
  </p:sldMasterIdLst>
  <p:notesMasterIdLst>
    <p:notesMasterId r:id="rId31"/>
  </p:notesMasterIdLst>
  <p:handoutMasterIdLst>
    <p:handoutMasterId r:id="rId32"/>
  </p:handoutMasterIdLst>
  <p:sldIdLst>
    <p:sldId id="256" r:id="rId2"/>
    <p:sldId id="295" r:id="rId3"/>
    <p:sldId id="267" r:id="rId4"/>
    <p:sldId id="268" r:id="rId5"/>
    <p:sldId id="329" r:id="rId6"/>
    <p:sldId id="328" r:id="rId7"/>
    <p:sldId id="257" r:id="rId8"/>
    <p:sldId id="296" r:id="rId9"/>
    <p:sldId id="297" r:id="rId10"/>
    <p:sldId id="298" r:id="rId11"/>
    <p:sldId id="258" r:id="rId12"/>
    <p:sldId id="299" r:id="rId13"/>
    <p:sldId id="303" r:id="rId14"/>
    <p:sldId id="304" r:id="rId15"/>
    <p:sldId id="305" r:id="rId16"/>
    <p:sldId id="330" r:id="rId17"/>
    <p:sldId id="300" r:id="rId18"/>
    <p:sldId id="306" r:id="rId19"/>
    <p:sldId id="307" r:id="rId20"/>
    <p:sldId id="308" r:id="rId21"/>
    <p:sldId id="309" r:id="rId22"/>
    <p:sldId id="301" r:id="rId23"/>
    <p:sldId id="311" r:id="rId24"/>
    <p:sldId id="310" r:id="rId25"/>
    <p:sldId id="331" r:id="rId26"/>
    <p:sldId id="335" r:id="rId27"/>
    <p:sldId id="284" r:id="rId28"/>
    <p:sldId id="285" r:id="rId29"/>
    <p:sldId id="286" r:id="rId30"/>
  </p:sldIdLst>
  <p:sldSz cx="9144000" cy="6858000" type="screen4x3"/>
  <p:notesSz cx="6858000" cy="9144000"/>
  <p:defaultTextStyle>
    <a:defPPr>
      <a:defRPr lang="en-US"/>
    </a:defPPr>
    <a:lvl1pPr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1pPr>
    <a:lvl2pPr marL="4572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2pPr>
    <a:lvl3pPr marL="9144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3pPr>
    <a:lvl4pPr marL="13716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4pPr>
    <a:lvl5pPr marL="1828800" algn="l" defTabSz="457200" rtl="0" fontAlgn="base">
      <a:spcBef>
        <a:spcPct val="0"/>
      </a:spcBef>
      <a:spcAft>
        <a:spcPct val="0"/>
      </a:spcAft>
      <a:defRPr kern="1200">
        <a:solidFill>
          <a:schemeClr val="tx1"/>
        </a:solidFill>
        <a:latin typeface="Arial" charset="0"/>
        <a:ea typeface="ＭＳ Ｐゴシック" charset="-128"/>
        <a:cs typeface="ＭＳ Ｐゴシック" charset="-128"/>
      </a:defRPr>
    </a:lvl5pPr>
    <a:lvl6pPr marL="2286000" algn="l" defTabSz="457200" rtl="0" eaLnBrk="1" latinLnBrk="0" hangingPunct="1">
      <a:defRPr kern="1200">
        <a:solidFill>
          <a:schemeClr val="tx1"/>
        </a:solidFill>
        <a:latin typeface="Arial" charset="0"/>
        <a:ea typeface="ＭＳ Ｐゴシック" charset="-128"/>
        <a:cs typeface="ＭＳ Ｐゴシック" charset="-128"/>
      </a:defRPr>
    </a:lvl6pPr>
    <a:lvl7pPr marL="2743200" algn="l" defTabSz="457200" rtl="0" eaLnBrk="1" latinLnBrk="0" hangingPunct="1">
      <a:defRPr kern="1200">
        <a:solidFill>
          <a:schemeClr val="tx1"/>
        </a:solidFill>
        <a:latin typeface="Arial" charset="0"/>
        <a:ea typeface="ＭＳ Ｐゴシック" charset="-128"/>
        <a:cs typeface="ＭＳ Ｐゴシック" charset="-128"/>
      </a:defRPr>
    </a:lvl7pPr>
    <a:lvl8pPr marL="3200400" algn="l" defTabSz="457200" rtl="0" eaLnBrk="1" latinLnBrk="0" hangingPunct="1">
      <a:defRPr kern="1200">
        <a:solidFill>
          <a:schemeClr val="tx1"/>
        </a:solidFill>
        <a:latin typeface="Arial" charset="0"/>
        <a:ea typeface="ＭＳ Ｐゴシック" charset="-128"/>
        <a:cs typeface="ＭＳ Ｐゴシック" charset="-128"/>
      </a:defRPr>
    </a:lvl8pPr>
    <a:lvl9pPr marL="3657600" algn="l" defTabSz="457200" rtl="0" eaLnBrk="1" latinLnBrk="0" hangingPunct="1">
      <a:defRPr kern="1200">
        <a:solidFill>
          <a:schemeClr val="tx1"/>
        </a:solidFill>
        <a:latin typeface="Arial" charset="0"/>
        <a:ea typeface="ＭＳ Ｐゴシック" charset="-128"/>
        <a:cs typeface="ＭＳ Ｐゴシック" charset="-128"/>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6424D"/>
    <a:srgbClr val="5B86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4" d="100"/>
          <a:sy n="104" d="100"/>
        </p:scale>
        <p:origin x="1280" y="80"/>
      </p:cViewPr>
      <p:guideLst>
        <p:guide orient="horz" pos="2160"/>
        <p:guide pos="2880"/>
      </p:guideLst>
    </p:cSldViewPr>
  </p:slideViewPr>
  <p:notesTextViewPr>
    <p:cViewPr>
      <p:scale>
        <a:sx n="100" d="100"/>
        <a:sy n="100" d="100"/>
      </p:scale>
      <p:origin x="0" y="0"/>
    </p:cViewPr>
  </p:notesTextViewPr>
  <p:sorterViewPr>
    <p:cViewPr>
      <p:scale>
        <a:sx n="200" d="100"/>
        <a:sy n="200" d="100"/>
      </p:scale>
      <p:origin x="0" y="472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heme" Target="theme/theme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CB44B6B1-5441-9644-AE1C-BB7EA5DBA264}" type="datetimeFigureOut">
              <a:rPr lang="en-US" smtClean="0"/>
              <a:pPr/>
              <a:t>1/20/2026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40300CC7-81E2-B842-8904-673E09748720}" type="slidenum">
              <a:rPr lang="en-US" smtClean="0"/>
              <a:pPr/>
              <a:t>‹#›</a:t>
            </a:fld>
            <a:endParaRPr lang="en-US"/>
          </a:p>
        </p:txBody>
      </p:sp>
    </p:spTree>
    <p:extLst>
      <p:ext uri="{BB962C8B-B14F-4D97-AF65-F5344CB8AC3E}">
        <p14:creationId xmlns:p14="http://schemas.microsoft.com/office/powerpoint/2010/main" val="286176607"/>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1878819-472C-A14B-95BF-39C94BA106B2}" type="datetimeFigureOut">
              <a:rPr lang="en-US" smtClean="0"/>
              <a:pPr/>
              <a:t>1/20/2026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B4F38C2-4548-F541-8261-4C1D96E7A166}" type="slidenum">
              <a:rPr lang="en-US" smtClean="0"/>
              <a:pPr/>
              <a:t>‹#›</a:t>
            </a:fld>
            <a:endParaRPr lang="en-US"/>
          </a:p>
        </p:txBody>
      </p:sp>
    </p:spTree>
    <p:extLst>
      <p:ext uri="{BB962C8B-B14F-4D97-AF65-F5344CB8AC3E}">
        <p14:creationId xmlns:p14="http://schemas.microsoft.com/office/powerpoint/2010/main" val="322458717"/>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5539" name="Rectangle 3"/>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1026"/>
          <p:cNvSpPr>
            <a:spLocks noGrp="1" noChangeArrowheads="1"/>
          </p:cNvSpPr>
          <p:nvPr>
            <p:ph type="body" idx="1"/>
          </p:nvPr>
        </p:nvSpPr>
        <p:spPr>
          <a:xfrm>
            <a:off x="914730" y="4345781"/>
            <a:ext cx="5028543" cy="3853161"/>
          </a:xfrm>
          <a:ln/>
        </p:spPr>
        <p:txBody>
          <a:bodyPr lIns="89166" tIns="43801" rIns="89166" bIns="43801"/>
          <a:lstStyle/>
          <a:p>
            <a:endParaRPr lang="en-US"/>
          </a:p>
        </p:txBody>
      </p:sp>
      <p:sp>
        <p:nvSpPr>
          <p:cNvPr id="67587" name="Rectangle 1027"/>
          <p:cNvSpPr>
            <a:spLocks noGrp="1" noRot="1" noChangeAspect="1" noChangeArrowheads="1" noTextEdit="1"/>
          </p:cNvSpPr>
          <p:nvPr>
            <p:ph type="sldImg"/>
          </p:nvPr>
        </p:nvSpPr>
        <p:spPr>
          <a:xfrm>
            <a:off x="1295400" y="798513"/>
            <a:ext cx="4267200" cy="3200400"/>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371600" y="3886200"/>
            <a:ext cx="6400800" cy="17526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dirty="0"/>
          </a:p>
        </p:txBody>
      </p:sp>
      <p:sp>
        <p:nvSpPr>
          <p:cNvPr id="3" name="Content Placeholder 2"/>
          <p:cNvSpPr>
            <a:spLocks noGrp="1"/>
          </p:cNvSpPr>
          <p:nvPr>
            <p:ph idx="1"/>
          </p:nvPr>
        </p:nvSpPr>
        <p:spPr>
          <a:xfrm>
            <a:off x="457200" y="1600200"/>
            <a:ext cx="8229600" cy="4525963"/>
          </a:xfrm>
          <a:prstGeom prst="rect">
            <a:avLst/>
          </a:prstGeom>
        </p:spPr>
        <p:txBody>
          <a:bodyPr/>
          <a:lstStyle>
            <a:lvl1pPr>
              <a:spcBef>
                <a:spcPts val="600"/>
              </a:spcBef>
              <a:spcAft>
                <a:spcPts val="600"/>
              </a:spcAft>
              <a:buFont typeface="Wingdings" charset="2"/>
              <a:buChar char="²"/>
              <a:defRPr sz="2400">
                <a:solidFill>
                  <a:srgbClr val="46424D"/>
                </a:solidFill>
                <a:latin typeface="Arial"/>
                <a:cs typeface="Arial"/>
              </a:defRPr>
            </a:lvl1pPr>
            <a:lvl2pPr>
              <a:spcBef>
                <a:spcPts val="300"/>
              </a:spcBef>
              <a:spcAft>
                <a:spcPts val="300"/>
              </a:spcAft>
              <a:buFont typeface="Wingdings" charset="2"/>
              <a:buChar char="§"/>
              <a:defRPr sz="2000">
                <a:solidFill>
                  <a:srgbClr val="46424D"/>
                </a:solidFill>
                <a:latin typeface="Arial"/>
                <a:cs typeface="Arial"/>
              </a:defRPr>
            </a:lvl2pPr>
            <a:lvl3pPr>
              <a:defRPr sz="1800">
                <a:solidFill>
                  <a:srgbClr val="46424D"/>
                </a:solidFill>
                <a:latin typeface="Arial"/>
                <a:cs typeface="Arial"/>
              </a:defRPr>
            </a:lvl3pPr>
            <a:lvl4pPr>
              <a:defRPr sz="1800">
                <a:solidFill>
                  <a:srgbClr val="46424D"/>
                </a:solidFill>
                <a:latin typeface="Arial"/>
                <a:cs typeface="Arial"/>
              </a:defRPr>
            </a:lvl4pPr>
            <a:lvl5pPr>
              <a:defRPr sz="1800">
                <a:solidFill>
                  <a:srgbClr val="46424D"/>
                </a:solidFill>
                <a:latin typeface="Arial"/>
                <a:cs typeface="Arial"/>
              </a:defRPr>
            </a:lvl5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a:t>
            </a:fld>
            <a:endParaRPr lang="en-US"/>
          </a:p>
        </p:txBody>
      </p:sp>
    </p:spTree>
  </p:cSld>
  <p:clrMapOvr>
    <a:masterClrMapping/>
  </p:clrMapOvr>
  <p:transition spd="med">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722313" y="2906713"/>
            <a:ext cx="7772400" cy="1500187"/>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AF2747F-ECC4-BB44-B379-DEBCDE6D0557}" type="slidenum">
              <a:rPr lang="en-GB" smtClean="0"/>
              <a:pPr>
                <a:defRPr/>
              </a:pPr>
              <a:t>‹#›</a:t>
            </a:fld>
            <a:endParaRPr lang="en-GB" dirty="0"/>
          </a:p>
        </p:txBody>
      </p:sp>
    </p:spTree>
  </p:cSld>
  <p:clrMapOvr>
    <a:masterClrMapping/>
  </p:clrMapOvr>
  <p:transition spd="med">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457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4648200" y="1600200"/>
            <a:ext cx="40386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E6C1ACB-37F4-2E4E-A02F-3AD2C3500E5B}" type="slidenum">
              <a:rPr lang="en-GB" smtClean="0"/>
              <a:pPr>
                <a:defRPr/>
              </a:pPr>
              <a:t>‹#›</a:t>
            </a:fld>
            <a:endParaRPr lang="en-GB" dirty="0"/>
          </a:p>
        </p:txBody>
      </p:sp>
    </p:spTree>
  </p:cSld>
  <p:clrMapOvr>
    <a:masterClrMapping/>
  </p:clrMapOvr>
  <p:transition spd="med">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457200" y="1535113"/>
            <a:ext cx="4040188"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457200" y="2174875"/>
            <a:ext cx="4040188"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4645025" y="1535113"/>
            <a:ext cx="4041775"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4645025" y="2174875"/>
            <a:ext cx="4041775"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8"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9"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DABC9741-E27D-6644-A29C-7357B3CA2856}" type="slidenum">
              <a:rPr lang="en-GB" smtClean="0"/>
              <a:pPr>
                <a:defRPr/>
              </a:pPr>
              <a:t>‹#›</a:t>
            </a:fld>
            <a:endParaRPr lang="en-GB" dirty="0"/>
          </a:p>
        </p:txBody>
      </p:sp>
    </p:spTree>
  </p:cSld>
  <p:clrMapOvr>
    <a:masterClrMapping/>
  </p:clrMapOvr>
  <p:transition spd="med">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4"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5"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F1A6FC00-01EB-8C4B-8EBA-327D665853CA}" type="slidenum">
              <a:rPr lang="en-GB" smtClean="0"/>
              <a:pPr>
                <a:defRPr/>
              </a:pPr>
              <a:t>‹#›</a:t>
            </a:fld>
            <a:endParaRPr lang="en-GB" dirty="0"/>
          </a:p>
        </p:txBody>
      </p:sp>
    </p:spTree>
  </p:cSld>
  <p:clrMapOvr>
    <a:masterClrMapping/>
  </p:clrMapOvr>
  <p:transition spd="med">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3"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4"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72C4B30A-E151-554F-9F57-FEC60EAD6DEE}" type="slidenum">
              <a:rPr lang="en-GB" smtClean="0"/>
              <a:pPr>
                <a:defRPr/>
              </a:pPr>
              <a:t>‹#›</a:t>
            </a:fld>
            <a:endParaRPr lang="en-GB" dirty="0"/>
          </a:p>
        </p:txBody>
      </p:sp>
    </p:spTree>
  </p:cSld>
  <p:clrMapOvr>
    <a:masterClrMapping/>
  </p:clrMapOvr>
  <p:transition spd="med">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3575050" y="273050"/>
            <a:ext cx="5111750"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457200" y="1435100"/>
            <a:ext cx="3008313"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9FF5AC9E-F104-7046-909E-B47A8243FECD}" type="slidenum">
              <a:rPr lang="en-GB" smtClean="0"/>
              <a:pPr>
                <a:defRPr/>
              </a:pPr>
              <a:t>‹#›</a:t>
            </a:fld>
            <a:endParaRPr lang="en-GB" dirty="0"/>
          </a:p>
        </p:txBody>
      </p:sp>
    </p:spTree>
  </p:cSld>
  <p:clrMapOvr>
    <a:masterClrMapping/>
  </p:clrMapOvr>
  <p:transition spd="med">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1792288" y="612775"/>
            <a:ext cx="54864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GB" noProof="0"/>
              <a:t>Drag picture to placeholder or click icon to add</a:t>
            </a:r>
            <a:endParaRPr lang="en-US" noProof="0"/>
          </a:p>
        </p:txBody>
      </p:sp>
      <p:sp>
        <p:nvSpPr>
          <p:cNvPr id="4" name="Text Placeholder 3"/>
          <p:cNvSpPr>
            <a:spLocks noGrp="1"/>
          </p:cNvSpPr>
          <p:nvPr>
            <p:ph type="body" sz="half" idx="2"/>
          </p:nvPr>
        </p:nvSpPr>
        <p:spPr>
          <a:xfrm>
            <a:off x="1792288" y="5367338"/>
            <a:ext cx="54864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6"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7"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449DDB79-4A56-9B43-9E32-8AACDB1BCC49}" type="slidenum">
              <a:rPr lang="en-GB" smtClean="0"/>
              <a:pPr>
                <a:defRPr/>
              </a:pPr>
              <a:t>‹#›</a:t>
            </a:fld>
            <a:endParaRPr lang="en-GB" dirty="0"/>
          </a:p>
        </p:txBody>
      </p:sp>
    </p:spTree>
  </p:cSld>
  <p:clrMapOvr>
    <a:masterClrMapping/>
  </p:clrMapOvr>
  <p:transition spd="med">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a:xfrm>
            <a:off x="457200" y="1600200"/>
            <a:ext cx="8229600" cy="4525963"/>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fld id="{2970207B-D522-9843-9370-2EDD2ED326F5}" type="slidenum">
              <a:rPr lang="en-GB" smtClean="0"/>
              <a:pPr>
                <a:defRPr/>
              </a:pPr>
              <a:t>‹#›</a:t>
            </a:fld>
            <a:endParaRPr lang="en-GB" dirty="0"/>
          </a:p>
        </p:txBody>
      </p:sp>
    </p:spTree>
  </p:cSld>
  <p:clrMapOvr>
    <a:masterClrMapping/>
  </p:clrMapOvr>
  <p:transition spd="med">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457200" y="274638"/>
            <a:ext cx="6019800" cy="5851525"/>
          </a:xfrm>
          <a:prstGeom prst="rect">
            <a:avLst/>
          </a:prstGeo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lvl1pPr>
              <a:defRPr/>
            </a:lvl1pPr>
          </a:lstStyle>
          <a:p>
            <a:pPr>
              <a:defRPr/>
            </a:pPr>
            <a:r>
              <a:rPr lang="en-GB"/>
              <a:t>30/10/2014</a:t>
            </a:r>
            <a:endParaRPr lang="en-US"/>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lvl1pPr>
              <a:defRPr/>
            </a:lvl1pPr>
          </a:lstStyle>
          <a:p>
            <a:pPr>
              <a:defRPr/>
            </a:pPr>
            <a:r>
              <a:rPr lang="en-US"/>
              <a:t>Chapter 1 Introduction</a:t>
            </a:r>
          </a:p>
        </p:txBody>
      </p:sp>
      <p:sp>
        <p:nvSpPr>
          <p:cNvPr id="6" name="Slide Number Placeholder 5"/>
          <p:cNvSpPr>
            <a:spLocks noGrp="1"/>
          </p:cNvSpPr>
          <p:nvPr>
            <p:ph type="sldNum" sz="quarter" idx="12"/>
          </p:nvPr>
        </p:nvSpPr>
        <p:spPr>
          <a:xfrm>
            <a:off x="6540626" y="6356350"/>
            <a:ext cx="2133600" cy="365125"/>
          </a:xfrm>
          <a:prstGeom prst="rect">
            <a:avLst/>
          </a:prstGeom>
        </p:spPr>
        <p:txBody>
          <a:bodyPr/>
          <a:lstStyle>
            <a:lvl1pPr>
              <a:defRPr/>
            </a:lvl1pPr>
          </a:lstStyle>
          <a:p>
            <a:pPr>
              <a:defRPr/>
            </a:pPr>
            <a:r>
              <a:rPr lang="en-GB"/>
              <a:t>Presentation title - </a:t>
            </a:r>
            <a:fld id="{DA4E4A1D-F72B-1945-8E69-DB5636470060}" type="slidenum">
              <a:rPr lang="en-GB" smtClean="0"/>
              <a:pPr>
                <a:defRPr/>
              </a:pPr>
              <a:t>‹#›</a:t>
            </a:fld>
            <a:endParaRPr lang="en-GB"/>
          </a:p>
        </p:txBody>
      </p:sp>
    </p:spTree>
  </p:cSld>
  <p:clrMapOvr>
    <a:masterClrMapping/>
  </p:clrMapOvr>
  <p:transition spd="med">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7293232"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GB"/>
              <a:t>Click to edit Master title style</a:t>
            </a:r>
            <a:endParaRPr lang="en-US" dirty="0"/>
          </a:p>
        </p:txBody>
      </p:sp>
      <p:cxnSp>
        <p:nvCxnSpPr>
          <p:cNvPr id="9" name="Straight Connector 8"/>
          <p:cNvCxnSpPr/>
          <p:nvPr/>
        </p:nvCxnSpPr>
        <p:spPr>
          <a:xfrm>
            <a:off x="457200" y="1419226"/>
            <a:ext cx="7305805"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sp>
        <p:nvSpPr>
          <p:cNvPr id="8" name="Footer Placeholder 7"/>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Introduction</a:t>
            </a:r>
            <a:endParaRPr lang="en-US" dirty="0"/>
          </a:p>
        </p:txBody>
      </p:sp>
      <p:sp>
        <p:nvSpPr>
          <p:cNvPr id="12" name="Date Placeholder 11"/>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GB"/>
              <a:t>30/10/2014</a:t>
            </a:r>
            <a:endParaRPr lang="en-US"/>
          </a:p>
        </p:txBody>
      </p:sp>
      <p:sp>
        <p:nvSpPr>
          <p:cNvPr id="14" name="Slide Number Placeholder 13"/>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D5CD492-2BC6-F348-9965-EC1D86DF57A8}" type="slidenum">
              <a:rPr lang="en-US" smtClean="0"/>
              <a:t>‹#›</a:t>
            </a:fld>
            <a:endParaRPr lang="en-US"/>
          </a:p>
        </p:txBody>
      </p:sp>
      <p:grpSp>
        <p:nvGrpSpPr>
          <p:cNvPr id="2" name="Group 1"/>
          <p:cNvGrpSpPr/>
          <p:nvPr userDrawn="1"/>
        </p:nvGrpSpPr>
        <p:grpSpPr>
          <a:xfrm>
            <a:off x="457200" y="256035"/>
            <a:ext cx="8218749" cy="1163191"/>
            <a:chOff x="457200" y="256035"/>
            <a:chExt cx="8218749" cy="1163191"/>
          </a:xfrm>
        </p:grpSpPr>
        <p:pic>
          <p:nvPicPr>
            <p:cNvPr id="10" name="Picture 9"/>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7716696" y="256035"/>
              <a:ext cx="959253" cy="1152000"/>
            </a:xfrm>
            <a:prstGeom prst="rect">
              <a:avLst/>
            </a:prstGeom>
          </p:spPr>
        </p:pic>
        <p:cxnSp>
          <p:nvCxnSpPr>
            <p:cNvPr id="13" name="Straight Connector 12"/>
            <p:cNvCxnSpPr/>
            <p:nvPr userDrawn="1"/>
          </p:nvCxnSpPr>
          <p:spPr>
            <a:xfrm flipV="1">
              <a:off x="457200" y="1417638"/>
              <a:ext cx="8217026" cy="1588"/>
            </a:xfrm>
            <a:prstGeom prst="line">
              <a:avLst/>
            </a:prstGeom>
            <a:ln>
              <a:solidFill>
                <a:schemeClr val="tx1">
                  <a:lumMod val="75000"/>
                  <a:lumOff val="25000"/>
                </a:schemeClr>
              </a:solidFill>
            </a:ln>
          </p:spPr>
          <p:style>
            <a:lnRef idx="2">
              <a:schemeClr val="accent1"/>
            </a:lnRef>
            <a:fillRef idx="0">
              <a:schemeClr val="accent1"/>
            </a:fillRef>
            <a:effectRef idx="1">
              <a:schemeClr val="accent1"/>
            </a:effectRef>
            <a:fontRef idx="minor">
              <a:schemeClr val="tx1"/>
            </a:fontRef>
          </p:style>
        </p:cxnSp>
      </p:grpSp>
    </p:spTree>
  </p:cSld>
  <p:clrMap bg1="lt1" tx1="dk1" bg2="lt2" tx2="dk2" accent1="accent1" accent2="accent2" accent3="accent3" accent4="accent4" accent5="accent5" accent6="accent6" hlink="hlink" folHlink="folHlink"/>
  <p:sldLayoutIdLst>
    <p:sldLayoutId id="2147483817" r:id="rId1"/>
    <p:sldLayoutId id="2147483818" r:id="rId2"/>
    <p:sldLayoutId id="2147483819" r:id="rId3"/>
    <p:sldLayoutId id="2147483820" r:id="rId4"/>
    <p:sldLayoutId id="2147483821" r:id="rId5"/>
    <p:sldLayoutId id="2147483822" r:id="rId6"/>
    <p:sldLayoutId id="2147483823" r:id="rId7"/>
    <p:sldLayoutId id="2147483824" r:id="rId8"/>
    <p:sldLayoutId id="2147483825" r:id="rId9"/>
    <p:sldLayoutId id="2147483826" r:id="rId10"/>
    <p:sldLayoutId id="2147483827" r:id="rId11"/>
  </p:sldLayoutIdLst>
  <p:transition spd="med">
    <p:wipe dir="r"/>
  </p:transition>
  <p:hf hdr="0"/>
  <p:txStyles>
    <p:titleStyle>
      <a:lvl1pPr algn="l" defTabSz="457200" rtl="0" eaLnBrk="1" fontAlgn="base" hangingPunct="1">
        <a:spcBef>
          <a:spcPct val="0"/>
        </a:spcBef>
        <a:spcAft>
          <a:spcPct val="0"/>
        </a:spcAft>
        <a:defRPr sz="2400" b="1" u="none" kern="1200">
          <a:solidFill>
            <a:srgbClr val="46424D"/>
          </a:solidFill>
          <a:latin typeface="Arial"/>
          <a:ea typeface="ＭＳ Ｐゴシック" charset="-128"/>
          <a:cs typeface="Arial"/>
        </a:defRPr>
      </a:lvl1pPr>
      <a:lvl2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2pPr>
      <a:lvl3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3pPr>
      <a:lvl4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4pPr>
      <a:lvl5pPr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5pPr>
      <a:lvl6pPr marL="4572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6pPr>
      <a:lvl7pPr marL="9144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7pPr>
      <a:lvl8pPr marL="13716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8pPr>
      <a:lvl9pPr marL="1828800" algn="ctr" defTabSz="457200" rtl="0" eaLnBrk="1" fontAlgn="base" hangingPunct="1">
        <a:spcBef>
          <a:spcPct val="0"/>
        </a:spcBef>
        <a:spcAft>
          <a:spcPct val="0"/>
        </a:spcAft>
        <a:defRPr sz="2400">
          <a:solidFill>
            <a:schemeClr val="tx1"/>
          </a:solidFill>
          <a:latin typeface="Calibri" charset="0"/>
          <a:ea typeface="ＭＳ Ｐゴシック" charset="-128"/>
          <a:cs typeface="ＭＳ Ｐゴシック" charset="-128"/>
        </a:defRPr>
      </a:lvl9pPr>
    </p:titleStyle>
    <p:bodyStyle>
      <a:lvl1pPr marL="342900" indent="-342900" algn="l" defTabSz="457200" rtl="0" eaLnBrk="1" fontAlgn="base" hangingPunct="1">
        <a:spcBef>
          <a:spcPct val="20000"/>
        </a:spcBef>
        <a:spcAft>
          <a:spcPct val="0"/>
        </a:spcAft>
        <a:buFont typeface="Arial" charset="0"/>
        <a:buChar char="•"/>
        <a:defRPr sz="3200" kern="1200">
          <a:solidFill>
            <a:schemeClr val="tx1"/>
          </a:solidFill>
          <a:latin typeface="+mn-lt"/>
          <a:ea typeface="ＭＳ Ｐゴシック" charset="-128"/>
          <a:cs typeface="ＭＳ Ｐゴシック" charset="-128"/>
        </a:defRPr>
      </a:lvl1pPr>
      <a:lvl2pPr marL="742950" indent="-285750" algn="l" defTabSz="457200" rtl="0" eaLnBrk="1" fontAlgn="base" hangingPunct="1">
        <a:spcBef>
          <a:spcPct val="20000"/>
        </a:spcBef>
        <a:spcAft>
          <a:spcPct val="0"/>
        </a:spcAft>
        <a:buFont typeface="Arial" charset="0"/>
        <a:defRPr sz="2800" kern="1200">
          <a:solidFill>
            <a:schemeClr val="tx1"/>
          </a:solidFill>
          <a:latin typeface="+mn-lt"/>
          <a:ea typeface="ＭＳ Ｐゴシック" charset="-128"/>
          <a:cs typeface="+mn-cs"/>
        </a:defRPr>
      </a:lvl2pPr>
      <a:lvl3pPr marL="1143000" indent="-228600" algn="l" defTabSz="457200" rtl="0" eaLnBrk="1" fontAlgn="base" hangingPunct="1">
        <a:spcBef>
          <a:spcPct val="20000"/>
        </a:spcBef>
        <a:spcAft>
          <a:spcPct val="0"/>
        </a:spcAft>
        <a:buFont typeface="Arial" charset="0"/>
        <a:buChar char="•"/>
        <a:defRPr sz="2400" kern="1200">
          <a:solidFill>
            <a:schemeClr val="tx1"/>
          </a:solidFill>
          <a:latin typeface="+mn-lt"/>
          <a:ea typeface="ＭＳ Ｐゴシック" charset="-128"/>
          <a:cs typeface="+mn-cs"/>
        </a:defRPr>
      </a:lvl3pPr>
      <a:lvl4pPr marL="16002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4pPr>
      <a:lvl5pPr marL="2057400" indent="-228600" algn="l" defTabSz="457200" rtl="0" eaLnBrk="1" fontAlgn="base" hangingPunct="1">
        <a:spcBef>
          <a:spcPct val="20000"/>
        </a:spcBef>
        <a:spcAft>
          <a:spcPct val="0"/>
        </a:spcAft>
        <a:buFont typeface="Arial" charset="0"/>
        <a:buChar char="»"/>
        <a:defRPr sz="2000" kern="1200">
          <a:solidFill>
            <a:schemeClr val="tx1"/>
          </a:solidFill>
          <a:latin typeface="+mn-lt"/>
          <a:ea typeface="ＭＳ Ｐゴシック" charset="-128"/>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ctrTitle"/>
          </p:nvPr>
        </p:nvSpPr>
        <p:spPr/>
        <p:txBody>
          <a:bodyPr/>
          <a:lstStyle/>
          <a:p>
            <a:pPr eaLnBrk="1" hangingPunct="1"/>
            <a:r>
              <a:rPr lang="en-US" dirty="0"/>
              <a:t>Chapter 1- Introduction</a:t>
            </a:r>
          </a:p>
        </p:txBody>
      </p:sp>
      <p:sp>
        <p:nvSpPr>
          <p:cNvPr id="2" name="Footer Placeholder 1"/>
          <p:cNvSpPr>
            <a:spLocks noGrp="1"/>
          </p:cNvSpPr>
          <p:nvPr>
            <p:ph type="ftr" sz="quarter" idx="10"/>
          </p:nvPr>
        </p:nvSpPr>
        <p:spPr/>
        <p:txBody>
          <a:bodyPr/>
          <a:lstStyle/>
          <a:p>
            <a:r>
              <a:rPr lang="en-US"/>
              <a:t>Chapter 1 Introduction</a:t>
            </a:r>
            <a:endParaRPr lang="en-US" dirty="0"/>
          </a:p>
        </p:txBody>
      </p:sp>
      <p:sp>
        <p:nvSpPr>
          <p:cNvPr id="4" name="Date Placeholder 3"/>
          <p:cNvSpPr>
            <a:spLocks noGrp="1"/>
          </p:cNvSpPr>
          <p:nvPr>
            <p:ph type="dt" sz="half" idx="11"/>
          </p:nvPr>
        </p:nvSpPr>
        <p:spPr/>
        <p:txBody>
          <a:bodyPr/>
          <a:lstStyle/>
          <a:p>
            <a:r>
              <a:rPr lang="en-GB"/>
              <a:t>30/10/2014</a:t>
            </a:r>
            <a:endParaRPr lang="en-US"/>
          </a:p>
        </p:txBody>
      </p:sp>
      <p:sp>
        <p:nvSpPr>
          <p:cNvPr id="5" name="Slide Number Placeholder 4"/>
          <p:cNvSpPr>
            <a:spLocks noGrp="1"/>
          </p:cNvSpPr>
          <p:nvPr>
            <p:ph type="sldNum" sz="quarter" idx="12"/>
          </p:nvPr>
        </p:nvSpPr>
        <p:spPr/>
        <p:txBody>
          <a:bodyPr/>
          <a:lstStyle/>
          <a:p>
            <a:fld id="{1D5CD492-2BC6-F348-9965-EC1D86DF57A8}" type="slidenum">
              <a:rPr lang="en-US" smtClean="0"/>
              <a:t>1</a:t>
            </a:fld>
            <a:endParaRPr lang="en-US"/>
          </a:p>
        </p:txBody>
      </p:sp>
    </p:spTree>
  </p:cSld>
  <p:clrMapOvr>
    <a:masterClrMapping/>
  </p:clrMapOvr>
  <p:transition spd="med">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Topics covered</a:t>
            </a:r>
          </a:p>
        </p:txBody>
      </p:sp>
      <p:sp>
        <p:nvSpPr>
          <p:cNvPr id="3" name="Content Placeholder 2"/>
          <p:cNvSpPr>
            <a:spLocks noGrp="1"/>
          </p:cNvSpPr>
          <p:nvPr>
            <p:ph idx="1"/>
          </p:nvPr>
        </p:nvSpPr>
        <p:spPr/>
        <p:txBody>
          <a:bodyPr/>
          <a:lstStyle/>
          <a:p>
            <a:r>
              <a:rPr lang="en-US" dirty="0"/>
              <a:t>Professional software development</a:t>
            </a:r>
          </a:p>
          <a:p>
            <a:pPr lvl="1"/>
            <a:r>
              <a:rPr lang="en-US" dirty="0"/>
              <a:t>What is meant by software engineering.</a:t>
            </a:r>
          </a:p>
          <a:p>
            <a:r>
              <a:rPr lang="en-US" dirty="0"/>
              <a:t>Software engineering ethics</a:t>
            </a:r>
          </a:p>
          <a:p>
            <a:pPr lvl="1"/>
            <a:r>
              <a:rPr lang="en-US" dirty="0"/>
              <a:t>A brief introduction to ethical issues that affect software engineering.</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a:t>
            </a:fld>
            <a:endParaRPr lang="en-US"/>
          </a:p>
        </p:txBody>
      </p:sp>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6" name="Rectangle 4"/>
          <p:cNvSpPr>
            <a:spLocks noGrp="1" noChangeArrowheads="1"/>
          </p:cNvSpPr>
          <p:nvPr>
            <p:ph type="title"/>
          </p:nvPr>
        </p:nvSpPr>
        <p:spPr/>
        <p:txBody>
          <a:bodyPr/>
          <a:lstStyle/>
          <a:p>
            <a:r>
              <a:rPr lang="en-GB" dirty="0"/>
              <a:t>Software engineering</a:t>
            </a:r>
          </a:p>
        </p:txBody>
      </p:sp>
      <p:sp>
        <p:nvSpPr>
          <p:cNvPr id="64517" name="Rectangle 5"/>
          <p:cNvSpPr>
            <a:spLocks noGrp="1" noChangeArrowheads="1"/>
          </p:cNvSpPr>
          <p:nvPr>
            <p:ph idx="1"/>
          </p:nvPr>
        </p:nvSpPr>
        <p:spPr/>
        <p:txBody>
          <a:bodyPr/>
          <a:lstStyle/>
          <a:p>
            <a:r>
              <a:rPr lang="en-GB" dirty="0"/>
              <a:t>The economies of ALL developed nations are </a:t>
            </a:r>
            <a:br>
              <a:rPr lang="en-GB" dirty="0"/>
            </a:br>
            <a:r>
              <a:rPr lang="en-GB" dirty="0"/>
              <a:t>dependent on software.</a:t>
            </a:r>
          </a:p>
          <a:p>
            <a:r>
              <a:rPr lang="en-GB" dirty="0"/>
              <a:t>More and more systems are software controlled</a:t>
            </a:r>
          </a:p>
          <a:p>
            <a:r>
              <a:rPr lang="en-GB" dirty="0"/>
              <a:t>Software engineering is concerned with theories, methods and tools for professional software development.</a:t>
            </a:r>
          </a:p>
          <a:p>
            <a:r>
              <a:rPr lang="en-GB" dirty="0"/>
              <a:t>Expenditure on software represents a </a:t>
            </a:r>
            <a:br>
              <a:rPr lang="en-GB" dirty="0"/>
            </a:br>
            <a:r>
              <a:rPr lang="en-GB" dirty="0"/>
              <a:t>significant fraction of GNP in all developed countries.</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3</a:t>
            </a:fld>
            <a:endParaRPr lang="en-US"/>
          </a:p>
        </p:txBody>
      </p:sp>
    </p:spTree>
  </p:cSld>
  <p:clrMapOvr>
    <a:masterClrMapping/>
  </p:clrMapOvr>
  <p:transition spd="med">
    <p:wipe dir="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4" name="Rectangle 4"/>
          <p:cNvSpPr>
            <a:spLocks noGrp="1" noChangeArrowheads="1"/>
          </p:cNvSpPr>
          <p:nvPr>
            <p:ph type="title"/>
          </p:nvPr>
        </p:nvSpPr>
        <p:spPr/>
        <p:txBody>
          <a:bodyPr/>
          <a:lstStyle/>
          <a:p>
            <a:r>
              <a:rPr lang="en-GB"/>
              <a:t>Software costs</a:t>
            </a:r>
          </a:p>
        </p:txBody>
      </p:sp>
      <p:sp>
        <p:nvSpPr>
          <p:cNvPr id="66565" name="Rectangle 5"/>
          <p:cNvSpPr>
            <a:spLocks noGrp="1" noChangeArrowheads="1"/>
          </p:cNvSpPr>
          <p:nvPr>
            <p:ph idx="1"/>
          </p:nvPr>
        </p:nvSpPr>
        <p:spPr/>
        <p:txBody>
          <a:bodyPr/>
          <a:lstStyle/>
          <a:p>
            <a:r>
              <a:rPr lang="en-GB"/>
              <a:t>Software costs often dominate computer system costs. The costs of software on a PC are often greater than the hardware cost.</a:t>
            </a:r>
          </a:p>
          <a:p>
            <a:r>
              <a:rPr lang="en-GB"/>
              <a:t>Software costs more to maintain than it does to develop. For systems with a long life, maintenance costs may be several times development costs.</a:t>
            </a:r>
          </a:p>
          <a:p>
            <a:r>
              <a:rPr lang="en-GB"/>
              <a:t>Software engineering is concerned with cost-effective software development.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4</a:t>
            </a:fld>
            <a:endParaRPr lang="en-US"/>
          </a:p>
        </p:txBody>
      </p:sp>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project failure</a:t>
            </a:r>
          </a:p>
        </p:txBody>
      </p:sp>
      <p:sp>
        <p:nvSpPr>
          <p:cNvPr id="3" name="Content Placeholder 2"/>
          <p:cNvSpPr>
            <a:spLocks noGrp="1"/>
          </p:cNvSpPr>
          <p:nvPr>
            <p:ph idx="1"/>
          </p:nvPr>
        </p:nvSpPr>
        <p:spPr/>
        <p:txBody>
          <a:bodyPr/>
          <a:lstStyle/>
          <a:p>
            <a:r>
              <a:rPr lang="en-GB" i="1" dirty="0"/>
              <a:t>Increasing system complexity</a:t>
            </a:r>
            <a:r>
              <a:rPr lang="en-GB" dirty="0"/>
              <a:t> </a:t>
            </a:r>
          </a:p>
          <a:p>
            <a:pPr lvl="1"/>
            <a:r>
              <a:rPr lang="en-GB" dirty="0"/>
              <a:t>As new software engineering techniques help us to build larger, more complex systems, the demands change. Systems have to be built and delivered more quickly; larger, even more complex systems are required; systems have to have new capabilities that were previously thought to be impossible. </a:t>
            </a:r>
          </a:p>
          <a:p>
            <a:r>
              <a:rPr lang="en-GB" i="1" dirty="0"/>
              <a:t>Failure to use software engineering methods</a:t>
            </a:r>
            <a:r>
              <a:rPr lang="en-GB" dirty="0"/>
              <a:t> </a:t>
            </a:r>
          </a:p>
          <a:p>
            <a:pPr lvl="1"/>
            <a:r>
              <a:rPr lang="en-GB" dirty="0"/>
              <a:t>It is fairly easy to write computer programs without using software engineering methods and techniques. Many companies have drifted into software development as their products and services have evolved. They do not use software engineering methods in their everyday work. Consequently, their software is often more expensive and less reliable than it should be.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5</a:t>
            </a:fld>
            <a:endParaRPr lang="en-US"/>
          </a:p>
        </p:txBody>
      </p:sp>
    </p:spTree>
    <p:extLst>
      <p:ext uri="{BB962C8B-B14F-4D97-AF65-F5344CB8AC3E}">
        <p14:creationId xmlns:p14="http://schemas.microsoft.com/office/powerpoint/2010/main" val="1121805179"/>
      </p:ext>
    </p:extLst>
  </p:cSld>
  <p:clrMapOvr>
    <a:masterClrMapping/>
  </p:clrMapOvr>
  <p:transition spd="med">
    <p:wipe dir="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2626958"/>
            <a:ext cx="9144000" cy="1143000"/>
          </a:xfrm>
        </p:spPr>
        <p:txBody>
          <a:bodyPr/>
          <a:lstStyle/>
          <a:p>
            <a:pPr algn="ctr"/>
            <a:r>
              <a:rPr lang="en-US" dirty="0"/>
              <a:t>Professional software development</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6</a:t>
            </a:fld>
            <a:endParaRPr lang="en-US"/>
          </a:p>
        </p:txBody>
      </p:sp>
    </p:spTree>
    <p:extLst>
      <p:ext uri="{BB962C8B-B14F-4D97-AF65-F5344CB8AC3E}">
        <p14:creationId xmlns:p14="http://schemas.microsoft.com/office/powerpoint/2010/main" val="2036704246"/>
      </p:ext>
    </p:extLst>
  </p:cSld>
  <p:clrMapOvr>
    <a:masterClrMapping/>
  </p:clrMapOvr>
  <p:transition spd="med">
    <p:wipe dir="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p:cNvSpPr>
            <a:spLocks noGrp="1"/>
          </p:cNvSpPr>
          <p:nvPr>
            <p:ph type="title"/>
          </p:nvPr>
        </p:nvSpPr>
        <p:spPr>
          <a:xfrm>
            <a:off x="457199" y="274639"/>
            <a:ext cx="7688597" cy="1178486"/>
          </a:xfrm>
        </p:spPr>
        <p:txBody>
          <a:bodyPr/>
          <a:lstStyle/>
          <a:p>
            <a:pPr eaLnBrk="1" hangingPunct="1"/>
            <a:r>
              <a:rPr lang="en-GB" dirty="0"/>
              <a:t>Frequently asked questions about software engineering</a:t>
            </a:r>
            <a:br>
              <a:rPr lang="en-GB" dirty="0"/>
            </a:br>
            <a:endParaRPr lang="en-US" dirty="0"/>
          </a:p>
        </p:txBody>
      </p:sp>
      <p:graphicFrame>
        <p:nvGraphicFramePr>
          <p:cNvPr id="5" name="Table 4"/>
          <p:cNvGraphicFramePr>
            <a:graphicFrameLocks noGrp="1"/>
          </p:cNvGraphicFramePr>
          <p:nvPr/>
        </p:nvGraphicFramePr>
        <p:xfrm>
          <a:off x="457199" y="1636194"/>
          <a:ext cx="8089977" cy="4512450"/>
        </p:xfrm>
        <a:graphic>
          <a:graphicData uri="http://schemas.openxmlformats.org/drawingml/2006/table">
            <a:tbl>
              <a:tblPr firstRow="1" bandRow="1">
                <a:tableStyleId>{B301B821-A1FF-4177-AEE7-76D212191A09}</a:tableStyleId>
              </a:tblPr>
              <a:tblGrid>
                <a:gridCol w="3464288">
                  <a:extLst>
                    <a:ext uri="{9D8B030D-6E8A-4147-A177-3AD203B41FA5}">
                      <a16:colId xmlns:a16="http://schemas.microsoft.com/office/drawing/2014/main" val="20000"/>
                    </a:ext>
                  </a:extLst>
                </a:gridCol>
                <a:gridCol w="4625689">
                  <a:extLst>
                    <a:ext uri="{9D8B030D-6E8A-4147-A177-3AD203B41FA5}">
                      <a16:colId xmlns:a16="http://schemas.microsoft.com/office/drawing/2014/main" val="20001"/>
                    </a:ext>
                  </a:extLst>
                </a:gridCol>
              </a:tblGrid>
              <a:tr h="473850">
                <a:tc>
                  <a:txBody>
                    <a:bodyPr/>
                    <a:lstStyle/>
                    <a:p>
                      <a:pPr algn="just">
                        <a:spcAft>
                          <a:spcPts val="0"/>
                        </a:spcAft>
                      </a:pPr>
                      <a:r>
                        <a:rPr lang="en-GB" sz="1400" dirty="0">
                          <a:latin typeface="Arial"/>
                          <a:cs typeface="Arial"/>
                        </a:rPr>
                        <a:t>Question</a:t>
                      </a:r>
                      <a:endParaRPr lang="en-GB" sz="1400" b="1" dirty="0">
                        <a:solidFill>
                          <a:srgbClr val="000000"/>
                        </a:solidFill>
                        <a:latin typeface="Arial"/>
                        <a:ea typeface="Times New Roman"/>
                        <a:cs typeface="Arial"/>
                      </a:endParaRPr>
                    </a:p>
                  </a:txBody>
                  <a:tcPr marL="73025" marR="73025" marT="73025" marB="73025"/>
                </a:tc>
                <a:tc>
                  <a:txBody>
                    <a:bodyPr/>
                    <a:lstStyle/>
                    <a:p>
                      <a:pPr algn="just">
                        <a:spcAft>
                          <a:spcPts val="0"/>
                        </a:spcAft>
                      </a:pPr>
                      <a:r>
                        <a:rPr lang="en-GB" sz="1400" dirty="0">
                          <a:latin typeface="Arial"/>
                          <a:cs typeface="Arial"/>
                        </a:rPr>
                        <a:t>Answer</a:t>
                      </a:r>
                      <a:endParaRPr lang="en-GB" sz="1400" b="1" dirty="0">
                        <a:solidFill>
                          <a:srgbClr val="000000"/>
                        </a:solidFill>
                        <a:latin typeface="Arial"/>
                        <a:ea typeface="Times New Roman"/>
                        <a:cs typeface="Arial"/>
                      </a:endParaRPr>
                    </a:p>
                  </a:txBody>
                  <a:tcPr marL="73025" marR="73025" marT="73025" marB="73025"/>
                </a:tc>
                <a:extLst>
                  <a:ext uri="{0D108BD9-81ED-4DB2-BD59-A6C34878D82A}">
                    <a16:rowId xmlns:a16="http://schemas.microsoft.com/office/drawing/2014/main" val="10000"/>
                  </a:ext>
                </a:extLst>
              </a:tr>
              <a:tr h="613408">
                <a:tc>
                  <a:txBody>
                    <a:bodyPr/>
                    <a:lstStyle/>
                    <a:p>
                      <a:pPr algn="just">
                        <a:spcAft>
                          <a:spcPts val="0"/>
                        </a:spcAft>
                      </a:pPr>
                      <a:r>
                        <a:rPr lang="en-GB" sz="1400" dirty="0">
                          <a:latin typeface="Arial"/>
                          <a:cs typeface="Arial"/>
                        </a:rPr>
                        <a:t>What is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programs and associated documentation. Software products may be developed for a particular customer or may be developed for a general market.</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613408">
                <a:tc>
                  <a:txBody>
                    <a:bodyPr/>
                    <a:lstStyle/>
                    <a:p>
                      <a:pPr algn="just">
                        <a:spcAft>
                          <a:spcPts val="0"/>
                        </a:spcAft>
                      </a:pPr>
                      <a:r>
                        <a:rPr lang="en-GB" sz="1400" dirty="0">
                          <a:latin typeface="Arial"/>
                          <a:cs typeface="Arial"/>
                        </a:rPr>
                        <a:t>What are the attributes of good software?</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Good software should deliver the required functionality and performance to the user and should be maintainable, dependable and usable.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473850">
                <a:tc>
                  <a:txBody>
                    <a:bodyPr/>
                    <a:lstStyle/>
                    <a:p>
                      <a:pPr algn="just">
                        <a:spcAft>
                          <a:spcPts val="0"/>
                        </a:spcAft>
                      </a:pPr>
                      <a:r>
                        <a:rPr lang="en-GB" sz="1400" dirty="0">
                          <a:latin typeface="Arial"/>
                          <a:cs typeface="Arial"/>
                        </a:rPr>
                        <a:t>What is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engineering is an engineering discipline that is concerned with all aspects of software production.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473850">
                <a:tc>
                  <a:txBody>
                    <a:bodyPr/>
                    <a:lstStyle/>
                    <a:p>
                      <a:pPr algn="just">
                        <a:spcAft>
                          <a:spcPts val="0"/>
                        </a:spcAft>
                      </a:pPr>
                      <a:r>
                        <a:rPr lang="en-GB" sz="1400">
                          <a:latin typeface="Arial"/>
                          <a:cs typeface="Arial"/>
                        </a:rPr>
                        <a:t>What are the fundamental software engineering activities?</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Software specification, software development, software validation and software evolution.</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r h="613408">
                <a:tc>
                  <a:txBody>
                    <a:bodyPr/>
                    <a:lstStyle/>
                    <a:p>
                      <a:pPr algn="just">
                        <a:spcAft>
                          <a:spcPts val="0"/>
                        </a:spcAft>
                      </a:pPr>
                      <a:r>
                        <a:rPr lang="en-GB" sz="1400">
                          <a:latin typeface="Arial"/>
                          <a:cs typeface="Arial"/>
                        </a:rPr>
                        <a:t>What is the difference between software engineering and computer science?</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Computer science focuses on theory and fundamentals; software engineering is concerned with the practicalities of developing and delivering useful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5"/>
                  </a:ext>
                </a:extLst>
              </a:tr>
              <a:tr h="788667">
                <a:tc>
                  <a:txBody>
                    <a:bodyPr/>
                    <a:lstStyle/>
                    <a:p>
                      <a:pPr algn="just">
                        <a:spcAft>
                          <a:spcPts val="0"/>
                        </a:spcAft>
                      </a:pPr>
                      <a:r>
                        <a:rPr lang="en-GB" sz="1400">
                          <a:latin typeface="Arial"/>
                          <a:cs typeface="Arial"/>
                        </a:rPr>
                        <a:t>What is the difference between software engineering and system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System engineering is concerned with all aspects of computer-based systems development including hardware, software and process engineering. Software engineering is part of this more general process.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6"/>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7</a:t>
            </a:fld>
            <a:endParaRPr lang="en-US"/>
          </a:p>
        </p:txBody>
      </p:sp>
    </p:spTree>
  </p:cSld>
  <p:clrMapOvr>
    <a:masterClrMapping/>
  </p:clrMapOvr>
  <p:transition spd="med">
    <p:wipe dir="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a:t>Frequently asked questions about software engineering</a:t>
            </a:r>
            <a:endParaRPr lang="en-US" dirty="0"/>
          </a:p>
        </p:txBody>
      </p:sp>
      <p:graphicFrame>
        <p:nvGraphicFramePr>
          <p:cNvPr id="6" name="Content Placeholder 5"/>
          <p:cNvGraphicFramePr>
            <a:graphicFrameLocks noGrp="1"/>
          </p:cNvGraphicFramePr>
          <p:nvPr>
            <p:ph idx="1"/>
          </p:nvPr>
        </p:nvGraphicFramePr>
        <p:xfrm>
          <a:off x="457200" y="1735300"/>
          <a:ext cx="8229600" cy="4485640"/>
        </p:xfrm>
        <a:graphic>
          <a:graphicData uri="http://schemas.openxmlformats.org/drawingml/2006/table">
            <a:tbl>
              <a:tblPr firstRow="1" bandRow="1">
                <a:tableStyleId>{5C22544A-7EE6-4342-B048-85BDC9FD1C3A}</a:tableStyleId>
              </a:tblPr>
              <a:tblGrid>
                <a:gridCol w="3488198">
                  <a:extLst>
                    <a:ext uri="{9D8B030D-6E8A-4147-A177-3AD203B41FA5}">
                      <a16:colId xmlns:a16="http://schemas.microsoft.com/office/drawing/2014/main" val="20000"/>
                    </a:ext>
                  </a:extLst>
                </a:gridCol>
                <a:gridCol w="4741402">
                  <a:extLst>
                    <a:ext uri="{9D8B030D-6E8A-4147-A177-3AD203B41FA5}">
                      <a16:colId xmlns:a16="http://schemas.microsoft.com/office/drawing/2014/main" val="20001"/>
                    </a:ext>
                  </a:extLst>
                </a:gridCol>
              </a:tblGrid>
              <a:tr h="370840">
                <a:tc>
                  <a:txBody>
                    <a:bodyPr/>
                    <a:lstStyle/>
                    <a:p>
                      <a:r>
                        <a:rPr lang="en-US" sz="1400" dirty="0">
                          <a:latin typeface="Arial"/>
                          <a:cs typeface="Arial"/>
                        </a:rPr>
                        <a:t>Question</a:t>
                      </a:r>
                    </a:p>
                  </a:txBody>
                  <a:tcPr/>
                </a:tc>
                <a:tc>
                  <a:txBody>
                    <a:bodyPr/>
                    <a:lstStyle/>
                    <a:p>
                      <a:r>
                        <a:rPr lang="en-US" sz="1400" dirty="0">
                          <a:latin typeface="Arial"/>
                          <a:cs typeface="Arial"/>
                        </a:rPr>
                        <a:t>Answer</a:t>
                      </a:r>
                    </a:p>
                  </a:txBody>
                  <a:tcPr/>
                </a:tc>
                <a:extLst>
                  <a:ext uri="{0D108BD9-81ED-4DB2-BD59-A6C34878D82A}">
                    <a16:rowId xmlns:a16="http://schemas.microsoft.com/office/drawing/2014/main" val="10000"/>
                  </a:ext>
                </a:extLst>
              </a:tr>
              <a:tr h="370840">
                <a:tc>
                  <a:txBody>
                    <a:bodyPr/>
                    <a:lstStyle/>
                    <a:p>
                      <a:pPr algn="just">
                        <a:spcAft>
                          <a:spcPts val="0"/>
                        </a:spcAft>
                      </a:pPr>
                      <a:r>
                        <a:rPr lang="en-GB" sz="1400" dirty="0">
                          <a:latin typeface="Arial"/>
                          <a:cs typeface="Arial"/>
                        </a:rPr>
                        <a:t>What are the key challenges facing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Coping with increasing diversity, demands for reduced delivery times and developing trustworthy software.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1"/>
                  </a:ext>
                </a:extLst>
              </a:tr>
              <a:tr h="370840">
                <a:tc>
                  <a:txBody>
                    <a:bodyPr/>
                    <a:lstStyle/>
                    <a:p>
                      <a:pPr algn="just">
                        <a:spcAft>
                          <a:spcPts val="0"/>
                        </a:spcAft>
                      </a:pPr>
                      <a:r>
                        <a:rPr lang="en-GB" sz="1400" dirty="0">
                          <a:latin typeface="Arial"/>
                          <a:cs typeface="Arial"/>
                        </a:rPr>
                        <a:t>What are the costs of software engineering?</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Roughly 60% of software costs are development costs, 40% are testing costs. For custom software, evolution costs often exceed development costs.</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2"/>
                  </a:ext>
                </a:extLst>
              </a:tr>
              <a:tr h="370840">
                <a:tc>
                  <a:txBody>
                    <a:bodyPr/>
                    <a:lstStyle/>
                    <a:p>
                      <a:pPr algn="just">
                        <a:spcAft>
                          <a:spcPts val="0"/>
                        </a:spcAft>
                      </a:pPr>
                      <a:r>
                        <a:rPr lang="en-GB" sz="1400" dirty="0">
                          <a:latin typeface="Arial"/>
                          <a:cs typeface="Arial"/>
                        </a:rPr>
                        <a:t>What are the best software engineering techniques and methods?</a:t>
                      </a:r>
                      <a:endParaRPr lang="en-GB" sz="1400" dirty="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While all software projects have to be professionally managed and developed, different techniques are appropriate for different types of system. For example, games should always be developed using a series of prototypes whereas safety critical control systems require a complete and analyzable specification to be developed. You can’t, therefore, say that one method is better than another.</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3"/>
                  </a:ext>
                </a:extLst>
              </a:tr>
              <a:tr h="370840">
                <a:tc>
                  <a:txBody>
                    <a:bodyPr/>
                    <a:lstStyle/>
                    <a:p>
                      <a:pPr algn="just">
                        <a:spcAft>
                          <a:spcPts val="0"/>
                        </a:spcAft>
                      </a:pPr>
                      <a:r>
                        <a:rPr lang="en-GB" sz="1400">
                          <a:latin typeface="Arial"/>
                          <a:cs typeface="Arial"/>
                        </a:rPr>
                        <a:t>What differences has the web made to software engineering?</a:t>
                      </a:r>
                      <a:endParaRPr lang="en-GB" sz="1400">
                        <a:solidFill>
                          <a:srgbClr val="000000"/>
                        </a:solidFill>
                        <a:latin typeface="Arial"/>
                        <a:ea typeface="Times New Roman"/>
                        <a:cs typeface="Arial"/>
                      </a:endParaRPr>
                    </a:p>
                  </a:txBody>
                  <a:tcPr marL="73025" marR="73025" marT="0" marB="68580"/>
                </a:tc>
                <a:tc>
                  <a:txBody>
                    <a:bodyPr/>
                    <a:lstStyle/>
                    <a:p>
                      <a:pPr algn="just">
                        <a:spcAft>
                          <a:spcPts val="0"/>
                        </a:spcAft>
                      </a:pPr>
                      <a:r>
                        <a:rPr lang="en-GB" sz="1400" dirty="0">
                          <a:latin typeface="Arial"/>
                          <a:cs typeface="Arial"/>
                        </a:rPr>
                        <a:t>The web has led to the availability of software services and the possibility of developing highly distributed service-based systems. Web-based systems development has led to important advances in programming languages and software reuse.</a:t>
                      </a:r>
                      <a:endParaRPr lang="en-GB" sz="1400" dirty="0">
                        <a:solidFill>
                          <a:srgbClr val="000000"/>
                        </a:solidFill>
                        <a:latin typeface="Arial"/>
                        <a:ea typeface="Times New Roman"/>
                        <a:cs typeface="Arial"/>
                      </a:endParaRPr>
                    </a:p>
                  </a:txBody>
                  <a:tcPr marL="73025" marR="73025" marT="0" marB="68580"/>
                </a:tc>
                <a:extLst>
                  <a:ext uri="{0D108BD9-81ED-4DB2-BD59-A6C34878D82A}">
                    <a16:rowId xmlns:a16="http://schemas.microsoft.com/office/drawing/2014/main" val="10004"/>
                  </a:ext>
                </a:extLst>
              </a:tr>
            </a:tbl>
          </a:graphicData>
        </a:graphic>
      </p:graphicFrame>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8</a:t>
            </a:fld>
            <a:endParaRPr lang="en-US"/>
          </a:p>
        </p:txBody>
      </p:sp>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products</a:t>
            </a:r>
          </a:p>
        </p:txBody>
      </p:sp>
      <p:sp>
        <p:nvSpPr>
          <p:cNvPr id="3" name="Content Placeholder 2"/>
          <p:cNvSpPr>
            <a:spLocks noGrp="1"/>
          </p:cNvSpPr>
          <p:nvPr>
            <p:ph idx="1"/>
          </p:nvPr>
        </p:nvSpPr>
        <p:spPr/>
        <p:txBody>
          <a:bodyPr/>
          <a:lstStyle/>
          <a:p>
            <a:r>
              <a:rPr lang="en-US" dirty="0"/>
              <a:t>Generic products</a:t>
            </a:r>
          </a:p>
          <a:p>
            <a:pPr lvl="1"/>
            <a:r>
              <a:rPr lang="en-US" dirty="0"/>
              <a:t>Stand-alone systems that are marketed and sold to any customer who wishes to buy them.</a:t>
            </a:r>
          </a:p>
          <a:p>
            <a:pPr lvl="1"/>
            <a:r>
              <a:rPr lang="en-US" dirty="0"/>
              <a:t>Examples – PC software such as graphics programs, project management tools; CAD software; software for specific markets such as appointments systems for dentists.</a:t>
            </a:r>
          </a:p>
          <a:p>
            <a:r>
              <a:rPr lang="en-US" dirty="0"/>
              <a:t>Customized products</a:t>
            </a:r>
          </a:p>
          <a:p>
            <a:pPr lvl="1"/>
            <a:r>
              <a:rPr lang="en-US" dirty="0"/>
              <a:t>Software that is commissioned by a specific customer to meet their own needs. </a:t>
            </a:r>
          </a:p>
          <a:p>
            <a:pPr lvl="1"/>
            <a:r>
              <a:rPr lang="en-US" dirty="0"/>
              <a:t>Examples – embedded control systems, air traffic control software, traffic monitoring systems.</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9</a:t>
            </a:fld>
            <a:endParaRPr lang="en-US"/>
          </a:p>
        </p:txBody>
      </p:sp>
    </p:spTree>
  </p:cSld>
  <p:clrMapOvr>
    <a:masterClrMapping/>
  </p:clrMapOvr>
  <p:transition spd="med">
    <p:wipe dir="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Product specification</a:t>
            </a:r>
          </a:p>
        </p:txBody>
      </p:sp>
      <p:sp>
        <p:nvSpPr>
          <p:cNvPr id="3" name="Content Placeholder 2"/>
          <p:cNvSpPr>
            <a:spLocks noGrp="1"/>
          </p:cNvSpPr>
          <p:nvPr>
            <p:ph idx="1"/>
          </p:nvPr>
        </p:nvSpPr>
        <p:spPr/>
        <p:txBody>
          <a:bodyPr/>
          <a:lstStyle/>
          <a:p>
            <a:r>
              <a:rPr lang="en-US" dirty="0"/>
              <a:t>Generic products</a:t>
            </a:r>
          </a:p>
          <a:p>
            <a:pPr lvl="1"/>
            <a:r>
              <a:rPr lang="en-US" dirty="0"/>
              <a:t>The specification of what the software should do is owned by the software developer and decisions on software change are made by the developer.</a:t>
            </a:r>
          </a:p>
          <a:p>
            <a:r>
              <a:rPr lang="en-US" dirty="0"/>
              <a:t>Customized products</a:t>
            </a:r>
          </a:p>
          <a:p>
            <a:pPr lvl="1"/>
            <a:r>
              <a:rPr lang="en-US" dirty="0"/>
              <a:t>The specification of what the software should do is owned by the customer for the software and they make decisions on software changes that are required.</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10</a:t>
            </a:fld>
            <a:endParaRPr lang="en-US"/>
          </a:p>
        </p:txBody>
      </p:sp>
    </p:spTree>
  </p:cSld>
  <p:clrMapOvr>
    <a:masterClrMapping/>
  </p:clrMapOvr>
  <p:transition spd="med">
    <p:wipe dir="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p:txBody>
          <a:bodyPr/>
          <a:lstStyle/>
          <a:p>
            <a:pPr eaLnBrk="1" hangingPunct="1"/>
            <a:r>
              <a:rPr lang="en-GB" dirty="0"/>
              <a:t>Essential attributes of good software</a:t>
            </a:r>
            <a:endParaRPr lang="en-US" dirty="0"/>
          </a:p>
        </p:txBody>
      </p:sp>
      <p:graphicFrame>
        <p:nvGraphicFramePr>
          <p:cNvPr id="4" name="Table 3"/>
          <p:cNvGraphicFramePr>
            <a:graphicFrameLocks noGrp="1"/>
          </p:cNvGraphicFramePr>
          <p:nvPr/>
        </p:nvGraphicFramePr>
        <p:xfrm>
          <a:off x="892175" y="1782763"/>
          <a:ext cx="7485040" cy="4190531"/>
        </p:xfrm>
        <a:graphic>
          <a:graphicData uri="http://schemas.openxmlformats.org/drawingml/2006/table">
            <a:tbl>
              <a:tblPr firstRow="1" bandRow="1">
                <a:tableStyleId>{B301B821-A1FF-4177-AEE7-76D212191A09}</a:tableStyleId>
              </a:tblPr>
              <a:tblGrid>
                <a:gridCol w="2132105">
                  <a:extLst>
                    <a:ext uri="{9D8B030D-6E8A-4147-A177-3AD203B41FA5}">
                      <a16:colId xmlns:a16="http://schemas.microsoft.com/office/drawing/2014/main" val="20000"/>
                    </a:ext>
                  </a:extLst>
                </a:gridCol>
                <a:gridCol w="5352935">
                  <a:extLst>
                    <a:ext uri="{9D8B030D-6E8A-4147-A177-3AD203B41FA5}">
                      <a16:colId xmlns:a16="http://schemas.microsoft.com/office/drawing/2014/main" val="20001"/>
                    </a:ext>
                  </a:extLst>
                </a:gridCol>
              </a:tblGrid>
              <a:tr h="497387">
                <a:tc>
                  <a:txBody>
                    <a:bodyPr/>
                    <a:lstStyle/>
                    <a:p>
                      <a:pPr algn="just">
                        <a:spcAft>
                          <a:spcPts val="0"/>
                        </a:spcAft>
                      </a:pPr>
                      <a:r>
                        <a:rPr lang="en-GB" sz="1400" dirty="0">
                          <a:latin typeface="Arial"/>
                          <a:cs typeface="Arial"/>
                        </a:rPr>
                        <a:t>Product characteristic</a:t>
                      </a:r>
                      <a:endParaRPr lang="en-GB" sz="1400" b="1" dirty="0">
                        <a:solidFill>
                          <a:srgbClr val="000000"/>
                        </a:solidFill>
                        <a:latin typeface="Arial"/>
                        <a:ea typeface="Times New Roman"/>
                        <a:cs typeface="Arial"/>
                      </a:endParaRPr>
                    </a:p>
                  </a:txBody>
                  <a:tcPr marL="54610" marR="54610" marT="91440" marB="91440"/>
                </a:tc>
                <a:tc>
                  <a:txBody>
                    <a:bodyPr/>
                    <a:lstStyle/>
                    <a:p>
                      <a:pPr algn="just">
                        <a:spcAft>
                          <a:spcPts val="0"/>
                        </a:spcAft>
                      </a:pPr>
                      <a:r>
                        <a:rPr lang="en-GB" sz="1400" dirty="0">
                          <a:latin typeface="Arial"/>
                          <a:cs typeface="Arial"/>
                        </a:rPr>
                        <a:t>Description</a:t>
                      </a:r>
                      <a:endParaRPr lang="en-GB" sz="1400" b="1" dirty="0">
                        <a:solidFill>
                          <a:srgbClr val="000000"/>
                        </a:solidFill>
                        <a:latin typeface="Arial"/>
                        <a:ea typeface="Times New Roman"/>
                        <a:cs typeface="Arial"/>
                      </a:endParaRPr>
                    </a:p>
                  </a:txBody>
                  <a:tcPr marL="54610" marR="54610" marT="91440" marB="91440"/>
                </a:tc>
                <a:extLst>
                  <a:ext uri="{0D108BD9-81ED-4DB2-BD59-A6C34878D82A}">
                    <a16:rowId xmlns:a16="http://schemas.microsoft.com/office/drawing/2014/main" val="10000"/>
                  </a:ext>
                </a:extLst>
              </a:tr>
              <a:tr h="858504">
                <a:tc>
                  <a:txBody>
                    <a:bodyPr/>
                    <a:lstStyle/>
                    <a:p>
                      <a:pPr algn="just">
                        <a:spcAft>
                          <a:spcPts val="0"/>
                        </a:spcAft>
                      </a:pPr>
                      <a:r>
                        <a:rPr lang="en-GB" sz="1400" dirty="0">
                          <a:latin typeface="Arial"/>
                          <a:cs typeface="Arial"/>
                        </a:rPr>
                        <a:t>Maintainability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should be written in such a way so that it can evolve to meet the changing needs of customers. This is a critical attribute because software change is an inevitable requirement of a changing business environment.</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1"/>
                  </a:ext>
                </a:extLst>
              </a:tr>
              <a:tr h="1042469">
                <a:tc>
                  <a:txBody>
                    <a:bodyPr/>
                    <a:lstStyle/>
                    <a:p>
                      <a:pPr algn="l">
                        <a:spcAft>
                          <a:spcPts val="0"/>
                        </a:spcAft>
                      </a:pPr>
                      <a:r>
                        <a:rPr lang="en-GB" sz="1400" dirty="0">
                          <a:latin typeface="Arial"/>
                          <a:cs typeface="Arial"/>
                        </a:rPr>
                        <a:t>Dependability and security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a:latin typeface="Arial"/>
                          <a:cs typeface="Arial"/>
                        </a:rPr>
                        <a:t>Software dependability includes a range of characteristics including reliability, security and safety. Dependable software should not cause physical or economic damage in the event of system failure. Malicious users should not be  able to access or damage the system.</a:t>
                      </a:r>
                      <a:endParaRPr lang="en-GB" sz="140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2"/>
                  </a:ext>
                </a:extLst>
              </a:tr>
              <a:tr h="858504">
                <a:tc>
                  <a:txBody>
                    <a:bodyPr/>
                    <a:lstStyle/>
                    <a:p>
                      <a:pPr algn="just">
                        <a:spcAft>
                          <a:spcPts val="0"/>
                        </a:spcAft>
                      </a:pPr>
                      <a:r>
                        <a:rPr lang="en-GB" sz="1400">
                          <a:latin typeface="Arial"/>
                          <a:cs typeface="Arial"/>
                        </a:rPr>
                        <a:t>Efficiency</a:t>
                      </a:r>
                      <a:endParaRPr lang="en-GB" sz="140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should not make wasteful use of system resources such as memory and processor cycles. Efficiency therefore includes responsiveness, processing time, memory utilisation, etc.</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3"/>
                  </a:ext>
                </a:extLst>
              </a:tr>
              <a:tr h="674539">
                <a:tc>
                  <a:txBody>
                    <a:bodyPr/>
                    <a:lstStyle/>
                    <a:p>
                      <a:pPr algn="just">
                        <a:spcAft>
                          <a:spcPts val="0"/>
                        </a:spcAft>
                      </a:pPr>
                      <a:r>
                        <a:rPr lang="en-GB" sz="1400" dirty="0">
                          <a:latin typeface="Arial"/>
                          <a:cs typeface="Arial"/>
                        </a:rPr>
                        <a:t>Acceptability</a:t>
                      </a:r>
                      <a:endParaRPr lang="en-GB" sz="1400" dirty="0">
                        <a:solidFill>
                          <a:srgbClr val="000000"/>
                        </a:solidFill>
                        <a:latin typeface="Arial"/>
                        <a:ea typeface="Times New Roman"/>
                        <a:cs typeface="Arial"/>
                      </a:endParaRPr>
                    </a:p>
                  </a:txBody>
                  <a:tcPr marL="54610" marR="54610" marT="0" marB="91440"/>
                </a:tc>
                <a:tc>
                  <a:txBody>
                    <a:bodyPr/>
                    <a:lstStyle/>
                    <a:p>
                      <a:pPr algn="just">
                        <a:spcAft>
                          <a:spcPts val="0"/>
                        </a:spcAft>
                      </a:pPr>
                      <a:r>
                        <a:rPr lang="en-GB" sz="1400" dirty="0">
                          <a:latin typeface="Arial"/>
                          <a:cs typeface="Arial"/>
                        </a:rPr>
                        <a:t>Software must be acceptable to the type of users for which it is designed. This means that it must be understandable, usable and compatible with other systems that they use. </a:t>
                      </a:r>
                      <a:endParaRPr lang="en-GB" sz="1400" dirty="0">
                        <a:solidFill>
                          <a:srgbClr val="000000"/>
                        </a:solidFill>
                        <a:latin typeface="Arial"/>
                        <a:ea typeface="Times New Roman"/>
                        <a:cs typeface="Arial"/>
                      </a:endParaRPr>
                    </a:p>
                  </a:txBody>
                  <a:tcPr marL="54610" marR="54610" marT="0" marB="91440"/>
                </a:tc>
                <a:extLst>
                  <a:ext uri="{0D108BD9-81ED-4DB2-BD59-A6C34878D82A}">
                    <a16:rowId xmlns:a16="http://schemas.microsoft.com/office/drawing/2014/main" val="10004"/>
                  </a:ext>
                </a:extLst>
              </a:tr>
            </a:tbl>
          </a:graphicData>
        </a:graphic>
      </p:graphicFrame>
      <p:sp>
        <p:nvSpPr>
          <p:cNvPr id="3" name="Footer Placeholder 2"/>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11</a:t>
            </a:fld>
            <a:endParaRPr lang="en-US"/>
          </a:p>
        </p:txBody>
      </p:sp>
    </p:spTree>
  </p:cSld>
  <p:clrMapOvr>
    <a:masterClrMapping/>
  </p:clrMapOvr>
  <p:transition spd="med">
    <p:wipe dir="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a:t>
            </a:r>
          </a:p>
        </p:txBody>
      </p:sp>
      <p:sp>
        <p:nvSpPr>
          <p:cNvPr id="3" name="Content Placeholder 2"/>
          <p:cNvSpPr>
            <a:spLocks noGrp="1"/>
          </p:cNvSpPr>
          <p:nvPr>
            <p:ph idx="1"/>
          </p:nvPr>
        </p:nvSpPr>
        <p:spPr/>
        <p:txBody>
          <a:bodyPr/>
          <a:lstStyle/>
          <a:p>
            <a:r>
              <a:rPr lang="en-US" dirty="0"/>
              <a:t>Software engineering is an engineering discipline that is concerned with all aspects of software production from the early stages of system specification through to maintaining the system after it has gone into use.</a:t>
            </a:r>
          </a:p>
          <a:p>
            <a:r>
              <a:rPr lang="en-US" dirty="0"/>
              <a:t>Engineering discipline</a:t>
            </a:r>
          </a:p>
          <a:p>
            <a:pPr lvl="1"/>
            <a:r>
              <a:rPr lang="en-US" dirty="0"/>
              <a:t>Using appropriate theories and methods to solve problems bearing in mind organizational and financial constraints.</a:t>
            </a:r>
          </a:p>
          <a:p>
            <a:r>
              <a:rPr lang="en-US" dirty="0"/>
              <a:t>All aspects of software production</a:t>
            </a:r>
          </a:p>
          <a:p>
            <a:pPr lvl="1"/>
            <a:r>
              <a:rPr lang="en-US" dirty="0"/>
              <a:t>Not just technical process of development. Also project management and the development of tools, methods etc. to support software production.</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12</a:t>
            </a:fld>
            <a:endParaRPr lang="en-US"/>
          </a:p>
        </p:txBody>
      </p:sp>
    </p:spTree>
  </p:cSld>
  <p:clrMapOvr>
    <a:masterClrMapping/>
  </p:clrMapOvr>
  <p:transition spd="med">
    <p:wipe dir="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Importance of software engineering</a:t>
            </a:r>
          </a:p>
        </p:txBody>
      </p:sp>
      <p:sp>
        <p:nvSpPr>
          <p:cNvPr id="3" name="Content Placeholder 2"/>
          <p:cNvSpPr>
            <a:spLocks noGrp="1"/>
          </p:cNvSpPr>
          <p:nvPr>
            <p:ph idx="1"/>
          </p:nvPr>
        </p:nvSpPr>
        <p:spPr/>
        <p:txBody>
          <a:bodyPr/>
          <a:lstStyle/>
          <a:p>
            <a:r>
              <a:rPr lang="en-GB" dirty="0"/>
              <a:t>More and more, individuals and society rely on advanced software systems. We need to be able to produce reliable and trustworthy systems economically and quickly.</a:t>
            </a:r>
          </a:p>
          <a:p>
            <a:r>
              <a:rPr lang="en-GB" dirty="0"/>
              <a:t>It is usually cheaper, in the long run, to use software engineering methods and techniques for software systems rather than just write the programs as if it was a personal programming project. For most types of system, the majority of costs are the costs of changing the software after it has gone into use.</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13</a:t>
            </a:fld>
            <a:endParaRPr lang="en-US"/>
          </a:p>
        </p:txBody>
      </p:sp>
    </p:spTree>
  </p:cSld>
  <p:clrMapOvr>
    <a:masterClrMapping/>
  </p:clrMapOvr>
  <p:transition spd="med">
    <p:wipe dir="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process activities</a:t>
            </a:r>
          </a:p>
        </p:txBody>
      </p:sp>
      <p:sp>
        <p:nvSpPr>
          <p:cNvPr id="3" name="Content Placeholder 2"/>
          <p:cNvSpPr>
            <a:spLocks noGrp="1"/>
          </p:cNvSpPr>
          <p:nvPr>
            <p:ph idx="1"/>
          </p:nvPr>
        </p:nvSpPr>
        <p:spPr/>
        <p:txBody>
          <a:bodyPr/>
          <a:lstStyle/>
          <a:p>
            <a:r>
              <a:rPr lang="en-GB" dirty="0"/>
              <a:t>Software specification, where customers and engineers define the software that is to be produced and the constraints on its operation.</a:t>
            </a:r>
          </a:p>
          <a:p>
            <a:r>
              <a:rPr lang="en-GB" dirty="0"/>
              <a:t>Software development, where the software is designed and programmed.</a:t>
            </a:r>
          </a:p>
          <a:p>
            <a:r>
              <a:rPr lang="en-GB" dirty="0"/>
              <a:t>Software validation, where the software is checked to ensure that it is what the customer requires.</a:t>
            </a:r>
          </a:p>
          <a:p>
            <a:r>
              <a:rPr lang="en-GB" dirty="0"/>
              <a:t>Software evolution, where the software is modified to reflect changing customer and market requirements.</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14</a:t>
            </a:fld>
            <a:endParaRPr lang="en-US"/>
          </a:p>
        </p:txBody>
      </p:sp>
    </p:spTree>
  </p:cSld>
  <p:clrMapOvr>
    <a:masterClrMapping/>
  </p:clrMapOvr>
  <p:transition spd="med">
    <p:wipe dir="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Heterogeneity </a:t>
            </a:r>
          </a:p>
          <a:p>
            <a:pPr lvl="1"/>
            <a:r>
              <a:rPr lang="en-GB" dirty="0"/>
              <a:t>Increasingly, systems are required to operate as distributed systems across networks that include different types of computer and mobile devices. </a:t>
            </a:r>
          </a:p>
          <a:p>
            <a:r>
              <a:rPr lang="en-GB" dirty="0"/>
              <a:t>Business and social change </a:t>
            </a:r>
          </a:p>
          <a:p>
            <a:pPr lvl="1"/>
            <a:r>
              <a:rPr lang="en-GB" dirty="0"/>
              <a:t>Business and society are changing incredibly quickly as emerging economies develop and new technologies become available. They need to be able to change their existing software and to rapidly develop new software.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15</a:t>
            </a:fld>
            <a:endParaRPr lang="en-US"/>
          </a:p>
        </p:txBody>
      </p:sp>
    </p:spTree>
  </p:cSld>
  <p:clrMapOvr>
    <a:masterClrMapping/>
  </p:clrMapOvr>
  <p:transition spd="med">
    <p:wipe dir="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issues that affect software</a:t>
            </a:r>
          </a:p>
        </p:txBody>
      </p:sp>
      <p:sp>
        <p:nvSpPr>
          <p:cNvPr id="3" name="Content Placeholder 2"/>
          <p:cNvSpPr>
            <a:spLocks noGrp="1"/>
          </p:cNvSpPr>
          <p:nvPr>
            <p:ph idx="1"/>
          </p:nvPr>
        </p:nvSpPr>
        <p:spPr/>
        <p:txBody>
          <a:bodyPr/>
          <a:lstStyle/>
          <a:p>
            <a:r>
              <a:rPr lang="en-GB" dirty="0"/>
              <a:t>Security and trust </a:t>
            </a:r>
          </a:p>
          <a:p>
            <a:pPr lvl="1"/>
            <a:r>
              <a:rPr lang="en-GB" dirty="0"/>
              <a:t>As software is intertwined with all aspects of our lives, it is essential that we can trust that software. </a:t>
            </a:r>
          </a:p>
          <a:p>
            <a:r>
              <a:rPr lang="en-GB" dirty="0"/>
              <a:t>Scale</a:t>
            </a:r>
          </a:p>
          <a:p>
            <a:pPr lvl="1"/>
            <a:r>
              <a:rPr lang="en-GB" dirty="0"/>
              <a:t>Software has to be developed across a very wide range of scales, from very small embedded systems in portable or wearable devices through to Internet-scale, cloud-based systems that serve a global community.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16</a:t>
            </a:fld>
            <a:endParaRPr lang="en-US"/>
          </a:p>
        </p:txBody>
      </p:sp>
    </p:spTree>
    <p:extLst>
      <p:ext uri="{BB962C8B-B14F-4D97-AF65-F5344CB8AC3E}">
        <p14:creationId xmlns:p14="http://schemas.microsoft.com/office/powerpoint/2010/main" val="3918975897"/>
      </p:ext>
    </p:extLst>
  </p:cSld>
  <p:clrMapOvr>
    <a:masterClrMapping/>
  </p:clrMapOvr>
  <p:transition spd="med">
    <p:wipe dir="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diversity</a:t>
            </a:r>
          </a:p>
        </p:txBody>
      </p:sp>
      <p:sp>
        <p:nvSpPr>
          <p:cNvPr id="3" name="Content Placeholder 2"/>
          <p:cNvSpPr>
            <a:spLocks noGrp="1"/>
          </p:cNvSpPr>
          <p:nvPr>
            <p:ph idx="1"/>
          </p:nvPr>
        </p:nvSpPr>
        <p:spPr/>
        <p:txBody>
          <a:bodyPr/>
          <a:lstStyle/>
          <a:p>
            <a:r>
              <a:rPr lang="en-US" dirty="0"/>
              <a:t>There are many different types of software system and there is no universal set of software techniques that is applicable to all of these.</a:t>
            </a:r>
          </a:p>
          <a:p>
            <a:r>
              <a:rPr lang="en-US" dirty="0"/>
              <a:t>The software engineering methods and tools used depend on the type of application being developed, the requirements of the customer and the background of the development team.</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17</a:t>
            </a:fld>
            <a:endParaRPr lang="en-US"/>
          </a:p>
        </p:txBody>
      </p:sp>
    </p:spTree>
  </p:cSld>
  <p:clrMapOvr>
    <a:masterClrMapping/>
  </p:clrMapOvr>
  <p:transition spd="med">
    <p:wipe dir="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Stand-alone applications </a:t>
            </a:r>
          </a:p>
          <a:p>
            <a:pPr lvl="1"/>
            <a:r>
              <a:rPr lang="en-GB" dirty="0"/>
              <a:t>These are application systems that run on a local computer, such as a PC. They include all necessary functionality and do not need to be connected to a network. </a:t>
            </a:r>
          </a:p>
          <a:p>
            <a:r>
              <a:rPr lang="en-GB" dirty="0"/>
              <a:t>Interactive transaction-based applications</a:t>
            </a:r>
            <a:r>
              <a:rPr lang="en-GB" i="1" dirty="0"/>
              <a:t> </a:t>
            </a:r>
          </a:p>
          <a:p>
            <a:pPr lvl="1"/>
            <a:r>
              <a:rPr lang="en-GB" dirty="0"/>
              <a:t>Applications that execute on a remote computer and are accessed by users from their own PCs or terminals. These include web applications such as </a:t>
            </a:r>
            <a:r>
              <a:rPr lang="en-GB" dirty="0" err="1"/>
              <a:t>e</a:t>
            </a:r>
            <a:r>
              <a:rPr lang="en-GB" dirty="0"/>
              <a:t>-commerce applications. </a:t>
            </a:r>
          </a:p>
          <a:p>
            <a:r>
              <a:rPr lang="en-GB" dirty="0"/>
              <a:t>Embedded control systems </a:t>
            </a:r>
          </a:p>
          <a:p>
            <a:pPr lvl="1"/>
            <a:r>
              <a:rPr lang="en-GB" dirty="0"/>
              <a:t>These are software control systems that control and manage hardware devices. Numerically, there are probably more embedded systems than any other type of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18</a:t>
            </a:fld>
            <a:endParaRPr lang="en-US"/>
          </a:p>
        </p:txBody>
      </p:sp>
    </p:spTree>
  </p:cSld>
  <p:clrMapOvr>
    <a:masterClrMapping/>
  </p:clrMapOvr>
  <p:transition spd="med">
    <p:wipe dir="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Batch processing systems </a:t>
            </a:r>
          </a:p>
          <a:p>
            <a:pPr lvl="1"/>
            <a:r>
              <a:rPr lang="en-GB" dirty="0"/>
              <a:t>These are business systems that are designed to process data in large batches. They process large numbers of individual inputs to create corresponding outputs. </a:t>
            </a:r>
          </a:p>
          <a:p>
            <a:r>
              <a:rPr lang="en-GB" dirty="0"/>
              <a:t>Entertainment systems </a:t>
            </a:r>
          </a:p>
          <a:p>
            <a:pPr lvl="1"/>
            <a:r>
              <a:rPr lang="en-GB" dirty="0"/>
              <a:t>These are systems that are primarily for personal use and which are intended to entertain the user. </a:t>
            </a:r>
          </a:p>
          <a:p>
            <a:r>
              <a:rPr lang="en-GB" dirty="0"/>
              <a:t>Systems for </a:t>
            </a:r>
            <a:r>
              <a:rPr lang="en-GB" dirty="0" err="1"/>
              <a:t>modeling</a:t>
            </a:r>
            <a:r>
              <a:rPr lang="en-GB" dirty="0"/>
              <a:t> and simulation </a:t>
            </a:r>
          </a:p>
          <a:p>
            <a:pPr lvl="1"/>
            <a:r>
              <a:rPr lang="en-GB" dirty="0"/>
              <a:t>These are systems that are developed by scientists and engineers to model physical processes or situations, which include many, separate, interacting objects.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19</a:t>
            </a:fld>
            <a:endParaRPr lang="en-US"/>
          </a:p>
        </p:txBody>
      </p:sp>
    </p:spTree>
  </p:cSld>
  <p:clrMapOvr>
    <a:masterClrMapping/>
  </p:clrMapOvr>
  <p:transition spd="med">
    <p:wipe dir="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Application types</a:t>
            </a:r>
          </a:p>
        </p:txBody>
      </p:sp>
      <p:sp>
        <p:nvSpPr>
          <p:cNvPr id="3" name="Content Placeholder 2"/>
          <p:cNvSpPr>
            <a:spLocks noGrp="1"/>
          </p:cNvSpPr>
          <p:nvPr>
            <p:ph idx="1"/>
          </p:nvPr>
        </p:nvSpPr>
        <p:spPr/>
        <p:txBody>
          <a:bodyPr/>
          <a:lstStyle/>
          <a:p>
            <a:r>
              <a:rPr lang="en-GB" dirty="0"/>
              <a:t>Data collection systems </a:t>
            </a:r>
            <a:r>
              <a:rPr lang="en-GB" i="1" dirty="0"/>
              <a:t>	</a:t>
            </a:r>
          </a:p>
          <a:p>
            <a:pPr lvl="1"/>
            <a:r>
              <a:rPr lang="en-GB" dirty="0"/>
              <a:t>These are systems that collect data from their environment using a set of sensors and send that data to other systems for processing. </a:t>
            </a:r>
          </a:p>
          <a:p>
            <a:r>
              <a:rPr lang="en-GB" dirty="0"/>
              <a:t>Systems of systems </a:t>
            </a:r>
          </a:p>
          <a:p>
            <a:pPr lvl="1"/>
            <a:r>
              <a:rPr lang="en-GB" dirty="0"/>
              <a:t>These are systems that are composed of a number of other software systems.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20</a:t>
            </a:fld>
            <a:endParaRPr lang="en-US"/>
          </a:p>
        </p:txBody>
      </p:sp>
    </p:spTree>
  </p:cSld>
  <p:clrMapOvr>
    <a:masterClrMapping/>
  </p:clrMapOvr>
  <p:transition spd="med">
    <p:wipe dir="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Software engineering fundamentals</a:t>
            </a:r>
          </a:p>
        </p:txBody>
      </p:sp>
      <p:sp>
        <p:nvSpPr>
          <p:cNvPr id="3" name="Content Placeholder 2"/>
          <p:cNvSpPr>
            <a:spLocks noGrp="1"/>
          </p:cNvSpPr>
          <p:nvPr>
            <p:ph idx="1"/>
          </p:nvPr>
        </p:nvSpPr>
        <p:spPr/>
        <p:txBody>
          <a:bodyPr/>
          <a:lstStyle/>
          <a:p>
            <a:r>
              <a:rPr lang="en-US" dirty="0"/>
              <a:t>Some fundamental principles apply to all types of software system, irrespective of the development techniques used:</a:t>
            </a:r>
          </a:p>
          <a:p>
            <a:pPr lvl="1"/>
            <a:r>
              <a:rPr lang="en-GB" dirty="0"/>
              <a:t>Systems should be developed using a managed and understood development process. Of course, different processes are used for different types of software.</a:t>
            </a:r>
          </a:p>
          <a:p>
            <a:pPr lvl="1"/>
            <a:r>
              <a:rPr lang="en-GB" dirty="0"/>
              <a:t>Dependability and performance are important for all types of system. </a:t>
            </a:r>
          </a:p>
          <a:p>
            <a:pPr lvl="1"/>
            <a:r>
              <a:rPr lang="en-GB" dirty="0"/>
              <a:t>Understanding and managing the software specification and requirements (what the software should do) are important. </a:t>
            </a:r>
          </a:p>
          <a:p>
            <a:pPr lvl="1"/>
            <a:r>
              <a:rPr lang="en-GB" dirty="0"/>
              <a:t>Where appropriate, you should reuse software that has already been developed rather than write new software.</a:t>
            </a:r>
          </a:p>
          <a:p>
            <a:pPr lvl="1"/>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21</a:t>
            </a:fld>
            <a:endParaRPr lang="en-US"/>
          </a:p>
        </p:txBody>
      </p:sp>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Internet software engineering</a:t>
            </a:r>
          </a:p>
        </p:txBody>
      </p:sp>
      <p:sp>
        <p:nvSpPr>
          <p:cNvPr id="3" name="Content Placeholder 2"/>
          <p:cNvSpPr>
            <a:spLocks noGrp="1"/>
          </p:cNvSpPr>
          <p:nvPr>
            <p:ph idx="1"/>
          </p:nvPr>
        </p:nvSpPr>
        <p:spPr/>
        <p:txBody>
          <a:bodyPr/>
          <a:lstStyle/>
          <a:p>
            <a:r>
              <a:rPr lang="en-US" dirty="0"/>
              <a:t>The Web is now a platform for running application and organizations are increasingly developing web-based systems rather than local systems.</a:t>
            </a:r>
          </a:p>
          <a:p>
            <a:r>
              <a:rPr lang="en-US" dirty="0"/>
              <a:t>Web services (discussed in Chapter 19) allow application functionality to be accessed over the web.</a:t>
            </a:r>
          </a:p>
          <a:p>
            <a:r>
              <a:rPr lang="en-US" dirty="0"/>
              <a:t>Cloud computing is an approach to the provision of computer services where applications run remotely on the ‘cloud’. </a:t>
            </a:r>
          </a:p>
          <a:p>
            <a:pPr lvl="1"/>
            <a:r>
              <a:rPr lang="en-US" dirty="0"/>
              <a:t>Users do not buy software buy pay according to use.</a:t>
            </a:r>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22</a:t>
            </a:fld>
            <a:endParaRPr lang="en-US"/>
          </a:p>
        </p:txBody>
      </p:sp>
    </p:spTree>
  </p:cSld>
  <p:clrMapOvr>
    <a:masterClrMapping/>
  </p:clrMapOvr>
  <p:transition spd="med">
    <p:wipe dir="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Web-based software engineering</a:t>
            </a:r>
          </a:p>
        </p:txBody>
      </p:sp>
      <p:sp>
        <p:nvSpPr>
          <p:cNvPr id="3" name="Content Placeholder 2"/>
          <p:cNvSpPr>
            <a:spLocks noGrp="1"/>
          </p:cNvSpPr>
          <p:nvPr>
            <p:ph idx="1"/>
          </p:nvPr>
        </p:nvSpPr>
        <p:spPr/>
        <p:txBody>
          <a:bodyPr/>
          <a:lstStyle/>
          <a:p>
            <a:r>
              <a:rPr lang="en-US" dirty="0"/>
              <a:t>Web-based systems are complex distributed systems but the fundamental principles of software engineering discussed previously are as applicable to them as they are to any other types of system.</a:t>
            </a:r>
          </a:p>
          <a:p>
            <a:r>
              <a:rPr lang="en-GB" dirty="0"/>
              <a:t>The fundamental ideas of software engineering apply to web-based software in the same way that they apply to other types of software system. </a:t>
            </a:r>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23</a:t>
            </a:fld>
            <a:endParaRPr lang="en-US"/>
          </a:p>
        </p:txBody>
      </p:sp>
    </p:spTree>
  </p:cSld>
  <p:clrMapOvr>
    <a:masterClrMapping/>
  </p:clrMapOvr>
  <p:transition spd="med">
    <p:wipe dir="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a:xfrm>
            <a:off x="256721" y="1559670"/>
            <a:ext cx="8660959" cy="4525963"/>
          </a:xfrm>
        </p:spPr>
        <p:txBody>
          <a:bodyPr/>
          <a:lstStyle/>
          <a:p>
            <a:r>
              <a:rPr lang="en-GB" dirty="0"/>
              <a:t>Software reuse</a:t>
            </a:r>
          </a:p>
          <a:p>
            <a:pPr lvl="1"/>
            <a:r>
              <a:rPr lang="en-GB" dirty="0"/>
              <a:t>Software reuse is the dominant approach for constructing web-based systems. 	When building these systems, you think about how you can assemble them from pre-existing software components and systems.</a:t>
            </a:r>
          </a:p>
          <a:p>
            <a:r>
              <a:rPr lang="en-GB" dirty="0"/>
              <a:t>Incremental and agile development</a:t>
            </a:r>
          </a:p>
          <a:p>
            <a:pPr lvl="1"/>
            <a:r>
              <a:rPr lang="en-GB" dirty="0"/>
              <a:t>Web-based systems should be developed and delivered incrementally. It is now generally recognized that it is impractical to specify all the requirements for such systems in advance.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24</a:t>
            </a:fld>
            <a:endParaRPr lang="en-US"/>
          </a:p>
        </p:txBody>
      </p:sp>
    </p:spTree>
  </p:cSld>
  <p:clrMapOvr>
    <a:masterClrMapping/>
  </p:clrMapOvr>
  <p:transition spd="med">
    <p:wipe dir="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software engineering</a:t>
            </a:r>
          </a:p>
        </p:txBody>
      </p:sp>
      <p:sp>
        <p:nvSpPr>
          <p:cNvPr id="3" name="Content Placeholder 2"/>
          <p:cNvSpPr>
            <a:spLocks noGrp="1"/>
          </p:cNvSpPr>
          <p:nvPr>
            <p:ph idx="1"/>
          </p:nvPr>
        </p:nvSpPr>
        <p:spPr/>
        <p:txBody>
          <a:bodyPr/>
          <a:lstStyle/>
          <a:p>
            <a:r>
              <a:rPr lang="en-GB" dirty="0"/>
              <a:t>Service-oriented systems</a:t>
            </a:r>
          </a:p>
          <a:p>
            <a:pPr lvl="1"/>
            <a:r>
              <a:rPr lang="en-GB" dirty="0"/>
              <a:t>Software may be implemented using service-oriented software engineering, where the software components are stand-alone web services.  </a:t>
            </a:r>
          </a:p>
          <a:p>
            <a:r>
              <a:rPr lang="en-GB" dirty="0"/>
              <a:t>Rich interfaces</a:t>
            </a:r>
          </a:p>
          <a:p>
            <a:pPr lvl="1"/>
            <a:r>
              <a:rPr lang="en-GB" dirty="0"/>
              <a:t>Interface development technologies such as AJAX and HTML5 have emerged that support the creation of rich interfaces within a web browser.   </a:t>
            </a:r>
          </a:p>
          <a:p>
            <a:endParaRPr lang="en-US" dirty="0"/>
          </a:p>
        </p:txBody>
      </p:sp>
      <p:sp>
        <p:nvSpPr>
          <p:cNvPr id="7" name="Footer Placeholder 6"/>
          <p:cNvSpPr>
            <a:spLocks noGrp="1"/>
          </p:cNvSpPr>
          <p:nvPr>
            <p:ph type="ftr" sz="quarter" idx="10"/>
          </p:nvPr>
        </p:nvSpPr>
        <p:spPr/>
        <p:txBody>
          <a:bodyPr/>
          <a:lstStyle/>
          <a:p>
            <a:r>
              <a:rPr lang="en-US"/>
              <a:t>Chapter 1 Introduction</a:t>
            </a:r>
            <a:endParaRPr lang="en-US" dirty="0"/>
          </a:p>
        </p:txBody>
      </p:sp>
      <p:sp>
        <p:nvSpPr>
          <p:cNvPr id="8" name="Date Placeholder 7"/>
          <p:cNvSpPr>
            <a:spLocks noGrp="1"/>
          </p:cNvSpPr>
          <p:nvPr>
            <p:ph type="dt" sz="half" idx="11"/>
          </p:nvPr>
        </p:nvSpPr>
        <p:spPr/>
        <p:txBody>
          <a:bodyPr/>
          <a:lstStyle/>
          <a:p>
            <a:r>
              <a:rPr lang="en-GB"/>
              <a:t>30/10/2014</a:t>
            </a:r>
            <a:endParaRPr lang="en-US"/>
          </a:p>
        </p:txBody>
      </p:sp>
      <p:sp>
        <p:nvSpPr>
          <p:cNvPr id="9" name="Slide Number Placeholder 8"/>
          <p:cNvSpPr>
            <a:spLocks noGrp="1"/>
          </p:cNvSpPr>
          <p:nvPr>
            <p:ph type="sldNum" sz="quarter" idx="12"/>
          </p:nvPr>
        </p:nvSpPr>
        <p:spPr/>
        <p:txBody>
          <a:bodyPr/>
          <a:lstStyle/>
          <a:p>
            <a:fld id="{1D5CD492-2BC6-F348-9965-EC1D86DF57A8}" type="slidenum">
              <a:rPr lang="en-US" smtClean="0"/>
              <a:t>25</a:t>
            </a:fld>
            <a:endParaRPr lang="en-US"/>
          </a:p>
        </p:txBody>
      </p:sp>
    </p:spTree>
    <p:extLst>
      <p:ext uri="{BB962C8B-B14F-4D97-AF65-F5344CB8AC3E}">
        <p14:creationId xmlns:p14="http://schemas.microsoft.com/office/powerpoint/2010/main" val="3090485339"/>
      </p:ext>
    </p:extLst>
  </p:cSld>
  <p:clrMapOvr>
    <a:masterClrMapping/>
  </p:clrMapOvr>
  <p:transition spd="med">
    <p:wipe dir="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306638"/>
            <a:ext cx="8229600" cy="1143000"/>
          </a:xfrm>
        </p:spPr>
        <p:txBody>
          <a:bodyPr/>
          <a:lstStyle/>
          <a:p>
            <a:pPr algn="ctr"/>
            <a:r>
              <a:rPr lang="en-US" dirty="0"/>
              <a:t>Software engineering ethics</a:t>
            </a:r>
          </a:p>
        </p:txBody>
      </p:sp>
      <p:sp>
        <p:nvSpPr>
          <p:cNvPr id="6" name="Footer Placeholder 5"/>
          <p:cNvSpPr>
            <a:spLocks noGrp="1"/>
          </p:cNvSpPr>
          <p:nvPr>
            <p:ph type="ftr" sz="quarter" idx="10"/>
          </p:nvPr>
        </p:nvSpPr>
        <p:spPr/>
        <p:txBody>
          <a:bodyPr/>
          <a:lstStyle/>
          <a:p>
            <a:r>
              <a:rPr lang="en-US"/>
              <a:t>Chapter 1 Introduction</a:t>
            </a:r>
            <a:endParaRPr lang="en-US" dirty="0"/>
          </a:p>
        </p:txBody>
      </p:sp>
      <p:sp>
        <p:nvSpPr>
          <p:cNvPr id="7" name="Date Placeholder 6"/>
          <p:cNvSpPr>
            <a:spLocks noGrp="1"/>
          </p:cNvSpPr>
          <p:nvPr>
            <p:ph type="dt" sz="half" idx="11"/>
          </p:nvPr>
        </p:nvSpPr>
        <p:spPr/>
        <p:txBody>
          <a:bodyPr/>
          <a:lstStyle/>
          <a:p>
            <a:r>
              <a:rPr lang="en-GB"/>
              <a:t>30/10/2014</a:t>
            </a:r>
            <a:endParaRPr lang="en-US"/>
          </a:p>
        </p:txBody>
      </p:sp>
      <p:sp>
        <p:nvSpPr>
          <p:cNvPr id="8" name="Slide Number Placeholder 7"/>
          <p:cNvSpPr>
            <a:spLocks noGrp="1"/>
          </p:cNvSpPr>
          <p:nvPr>
            <p:ph type="sldNum" sz="quarter" idx="12"/>
          </p:nvPr>
        </p:nvSpPr>
        <p:spPr/>
        <p:txBody>
          <a:bodyPr/>
          <a:lstStyle/>
          <a:p>
            <a:fld id="{1D5CD492-2BC6-F348-9965-EC1D86DF57A8}" type="slidenum">
              <a:rPr lang="en-US" smtClean="0"/>
              <a:t>26</a:t>
            </a:fld>
            <a:endParaRPr lang="en-US"/>
          </a:p>
        </p:txBody>
      </p:sp>
    </p:spTree>
    <p:extLst>
      <p:ext uri="{BB962C8B-B14F-4D97-AF65-F5344CB8AC3E}">
        <p14:creationId xmlns:p14="http://schemas.microsoft.com/office/powerpoint/2010/main" val="1636161276"/>
      </p:ext>
    </p:extLst>
  </p:cSld>
  <p:clrMapOvr>
    <a:masterClrMapping/>
  </p:clrMapOvr>
  <p:transition spd="med">
    <p:wipe dir="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900" name="Rectangle 4"/>
          <p:cNvSpPr>
            <a:spLocks noGrp="1" noChangeArrowheads="1"/>
          </p:cNvSpPr>
          <p:nvPr>
            <p:ph type="title"/>
          </p:nvPr>
        </p:nvSpPr>
        <p:spPr>
          <a:xfrm>
            <a:off x="474785" y="304801"/>
            <a:ext cx="8192966" cy="917575"/>
          </a:xfrm>
          <a:noFill/>
        </p:spPr>
        <p:txBody>
          <a:bodyPr anchor="ctr"/>
          <a:lstStyle/>
          <a:p>
            <a:r>
              <a:rPr lang="en-GB" dirty="0"/>
              <a:t>Software engineering ethics</a:t>
            </a:r>
          </a:p>
        </p:txBody>
      </p:sp>
      <p:sp>
        <p:nvSpPr>
          <p:cNvPr id="80901" name="Rectangle 5"/>
          <p:cNvSpPr>
            <a:spLocks noGrp="1" noChangeArrowheads="1"/>
          </p:cNvSpPr>
          <p:nvPr>
            <p:ph idx="1"/>
          </p:nvPr>
        </p:nvSpPr>
        <p:spPr/>
        <p:txBody>
          <a:bodyPr/>
          <a:lstStyle/>
          <a:p>
            <a:r>
              <a:rPr lang="en-GB" dirty="0"/>
              <a:t>Software engineering involves wider responsibilities than simply the application of technical skills.</a:t>
            </a:r>
          </a:p>
          <a:p>
            <a:r>
              <a:rPr lang="en-GB" dirty="0"/>
              <a:t>Software engineers must behave in an honest and ethically responsible way if they are to be respected as professionals.</a:t>
            </a:r>
          </a:p>
          <a:p>
            <a:r>
              <a:rPr lang="en-GB" dirty="0"/>
              <a:t>Ethical behaviour is more than simply upholding the law but involves following a set of principles that are morally correct.</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27</a:t>
            </a:fld>
            <a:endParaRPr lang="en-US"/>
          </a:p>
        </p:txBody>
      </p:sp>
    </p:spTree>
  </p:cSld>
  <p:clrMapOvr>
    <a:masterClrMapping/>
  </p:clrMapOvr>
  <p:transition spd="med">
    <p:wipe dir="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4" name="Rectangle 4"/>
          <p:cNvSpPr>
            <a:spLocks noGrp="1" noChangeArrowheads="1"/>
          </p:cNvSpPr>
          <p:nvPr>
            <p:ph type="title"/>
          </p:nvPr>
        </p:nvSpPr>
        <p:spPr>
          <a:noFill/>
        </p:spPr>
        <p:txBody>
          <a:bodyPr anchor="ctr"/>
          <a:lstStyle/>
          <a:p>
            <a:r>
              <a:rPr lang="en-GB"/>
              <a:t>Issues of professional responsibility</a:t>
            </a:r>
          </a:p>
        </p:txBody>
      </p:sp>
      <p:sp>
        <p:nvSpPr>
          <p:cNvPr id="81925" name="Rectangle 5"/>
          <p:cNvSpPr>
            <a:spLocks noGrp="1" noChangeArrowheads="1"/>
          </p:cNvSpPr>
          <p:nvPr>
            <p:ph idx="1"/>
          </p:nvPr>
        </p:nvSpPr>
        <p:spPr/>
        <p:txBody>
          <a:bodyPr/>
          <a:lstStyle/>
          <a:p>
            <a:pPr>
              <a:lnSpc>
                <a:spcPct val="90000"/>
              </a:lnSpc>
            </a:pPr>
            <a:r>
              <a:rPr lang="en-GB"/>
              <a:t>Confidentiality </a:t>
            </a:r>
          </a:p>
          <a:p>
            <a:pPr lvl="1">
              <a:lnSpc>
                <a:spcPct val="90000"/>
              </a:lnSpc>
            </a:pPr>
            <a:r>
              <a:rPr lang="en-GB"/>
              <a:t>Engineers should normally respect the confidentiality of their employers or clients irrespective of whether or not a formal confidentiality agreement has been signed.</a:t>
            </a:r>
          </a:p>
          <a:p>
            <a:pPr>
              <a:lnSpc>
                <a:spcPct val="90000"/>
              </a:lnSpc>
            </a:pPr>
            <a:r>
              <a:rPr lang="en-GB"/>
              <a:t>Competence </a:t>
            </a:r>
          </a:p>
          <a:p>
            <a:pPr lvl="1">
              <a:lnSpc>
                <a:spcPct val="90000"/>
              </a:lnSpc>
            </a:pPr>
            <a:r>
              <a:rPr lang="en-GB"/>
              <a:t>Engineers should not misrepresent their level of competence. They should not knowingly accept work which is outwith their competence.</a:t>
            </a:r>
          </a:p>
          <a:p>
            <a:pPr>
              <a:lnSpc>
                <a:spcPct val="90000"/>
              </a:lnSpc>
            </a:pPr>
            <a:endParaRPr lang="en-GB"/>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28</a:t>
            </a:fld>
            <a:endParaRPr lang="en-US"/>
          </a:p>
        </p:txBody>
      </p:sp>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2" name="Rectangle 4"/>
          <p:cNvSpPr>
            <a:spLocks noGrp="1" noChangeArrowheads="1"/>
          </p:cNvSpPr>
          <p:nvPr>
            <p:ph type="title"/>
          </p:nvPr>
        </p:nvSpPr>
        <p:spPr/>
        <p:txBody>
          <a:bodyPr/>
          <a:lstStyle/>
          <a:p>
            <a:r>
              <a:rPr lang="en-GB"/>
              <a:t>Issues of professional responsibility</a:t>
            </a:r>
          </a:p>
        </p:txBody>
      </p:sp>
      <p:sp>
        <p:nvSpPr>
          <p:cNvPr id="83973" name="Rectangle 5"/>
          <p:cNvSpPr>
            <a:spLocks noGrp="1" noChangeArrowheads="1"/>
          </p:cNvSpPr>
          <p:nvPr>
            <p:ph idx="1"/>
          </p:nvPr>
        </p:nvSpPr>
        <p:spPr/>
        <p:txBody>
          <a:bodyPr/>
          <a:lstStyle/>
          <a:p>
            <a:r>
              <a:rPr lang="en-GB" sz="2400"/>
              <a:t>Intellectual property rights </a:t>
            </a:r>
          </a:p>
          <a:p>
            <a:pPr lvl="1"/>
            <a:r>
              <a:rPr lang="en-GB" sz="2000"/>
              <a:t>Engineers should be aware of local laws governing the use of intellectual property such as patents, copyright, etc. They should be careful to ensure that the intellectual property of employers and clients is protected.</a:t>
            </a:r>
          </a:p>
          <a:p>
            <a:r>
              <a:rPr lang="en-GB" sz="2400"/>
              <a:t>Computer misuse </a:t>
            </a:r>
          </a:p>
          <a:p>
            <a:pPr lvl="1"/>
            <a:r>
              <a:rPr lang="en-GB" sz="2000"/>
              <a:t>Software engineers should not use their technical skills to misuse other people’s computers. Computer misuse ranges from relatively trivial (game playing on an employer’s machine, say) to extremely serious (dissemination of viruses). </a:t>
            </a:r>
          </a:p>
        </p:txBody>
      </p:sp>
      <p:sp>
        <p:nvSpPr>
          <p:cNvPr id="5" name="Footer Placeholder 4"/>
          <p:cNvSpPr>
            <a:spLocks noGrp="1"/>
          </p:cNvSpPr>
          <p:nvPr>
            <p:ph type="ftr" sz="quarter" idx="10"/>
          </p:nvPr>
        </p:nvSpPr>
        <p:spPr/>
        <p:txBody>
          <a:bodyPr/>
          <a:lstStyle/>
          <a:p>
            <a:r>
              <a:rPr lang="en-US"/>
              <a:t>Chapter 1 Introduction</a:t>
            </a:r>
            <a:endParaRPr lang="en-US" dirty="0"/>
          </a:p>
        </p:txBody>
      </p:sp>
      <p:sp>
        <p:nvSpPr>
          <p:cNvPr id="6" name="Date Placeholder 5"/>
          <p:cNvSpPr>
            <a:spLocks noGrp="1"/>
          </p:cNvSpPr>
          <p:nvPr>
            <p:ph type="dt" sz="half" idx="11"/>
          </p:nvPr>
        </p:nvSpPr>
        <p:spPr/>
        <p:txBody>
          <a:bodyPr/>
          <a:lstStyle/>
          <a:p>
            <a:r>
              <a:rPr lang="en-GB"/>
              <a:t>30/10/2014</a:t>
            </a:r>
            <a:endParaRPr lang="en-US"/>
          </a:p>
        </p:txBody>
      </p:sp>
      <p:sp>
        <p:nvSpPr>
          <p:cNvPr id="7" name="Slide Number Placeholder 6"/>
          <p:cNvSpPr>
            <a:spLocks noGrp="1"/>
          </p:cNvSpPr>
          <p:nvPr>
            <p:ph type="sldNum" sz="quarter" idx="12"/>
          </p:nvPr>
        </p:nvSpPr>
        <p:spPr/>
        <p:txBody>
          <a:bodyPr/>
          <a:lstStyle/>
          <a:p>
            <a:fld id="{1D5CD492-2BC6-F348-9965-EC1D86DF57A8}" type="slidenum">
              <a:rPr lang="en-US" smtClean="0"/>
              <a:t>29</a:t>
            </a:fld>
            <a:endParaRPr lang="en-US"/>
          </a:p>
        </p:txBody>
      </p:sp>
    </p:spTree>
  </p:cSld>
  <p:clrMapOvr>
    <a:masterClrMapping/>
  </p:clrMapOvr>
  <p:transition spd="med">
    <p:wipe dir="r"/>
  </p:transition>
</p:sld>
</file>

<file path=ppt/theme/theme1.xml><?xml version="1.0" encoding="utf-8"?>
<a:theme xmlns:a="http://schemas.openxmlformats.org/drawingml/2006/main" name="SE10 slides">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SE10 slides.thmx</Template>
  <TotalTime>1990</TotalTime>
  <Words>2266</Words>
  <Application>Microsoft Office PowerPoint</Application>
  <PresentationFormat>On-screen Show (4:3)</PresentationFormat>
  <Paragraphs>242</Paragraphs>
  <Slides>29</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29</vt:i4>
      </vt:variant>
    </vt:vector>
  </HeadingPairs>
  <TitlesOfParts>
    <vt:vector size="33" baseType="lpstr">
      <vt:lpstr>Arial</vt:lpstr>
      <vt:lpstr>Calibri</vt:lpstr>
      <vt:lpstr>Wingdings</vt:lpstr>
      <vt:lpstr>SE10 slides</vt:lpstr>
      <vt:lpstr>Chapter 1- Introduction</vt:lpstr>
      <vt:lpstr>Topics covered</vt:lpstr>
      <vt:lpstr>Software engineering</vt:lpstr>
      <vt:lpstr>Software costs</vt:lpstr>
      <vt:lpstr>Software project failure</vt:lpstr>
      <vt:lpstr>Professional software development</vt:lpstr>
      <vt:lpstr>Frequently asked questions about software engineering </vt:lpstr>
      <vt:lpstr>Frequently asked questions about software engineering</vt:lpstr>
      <vt:lpstr>Software products</vt:lpstr>
      <vt:lpstr>Product specification</vt:lpstr>
      <vt:lpstr>Essential attributes of good software</vt:lpstr>
      <vt:lpstr>Software engineering</vt:lpstr>
      <vt:lpstr>Importance of software engineering</vt:lpstr>
      <vt:lpstr>Software process activities</vt:lpstr>
      <vt:lpstr>General issues that affect software</vt:lpstr>
      <vt:lpstr>General issues that affect software</vt:lpstr>
      <vt:lpstr>Software engineering diversity</vt:lpstr>
      <vt:lpstr>Application types</vt:lpstr>
      <vt:lpstr>Application types</vt:lpstr>
      <vt:lpstr>Application types</vt:lpstr>
      <vt:lpstr>Software engineering fundamentals</vt:lpstr>
      <vt:lpstr>Internet software engineering</vt:lpstr>
      <vt:lpstr>Web-based software engineering</vt:lpstr>
      <vt:lpstr>Web software engineering</vt:lpstr>
      <vt:lpstr>Web software engineering</vt:lpstr>
      <vt:lpstr>Software engineering ethics</vt:lpstr>
      <vt:lpstr>Software engineering ethics</vt:lpstr>
      <vt:lpstr>Issues of professional responsibility</vt:lpstr>
      <vt:lpstr>Issues of professional responsibility</vt:lpstr>
    </vt:vector>
  </TitlesOfParts>
  <Company>St Andrews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Figures – Chapter 1</dc:title>
  <dc:creator>Ian Sommerville</dc:creator>
  <cp:lastModifiedBy>ايمن احمد علي</cp:lastModifiedBy>
  <cp:revision>32</cp:revision>
  <dcterms:created xsi:type="dcterms:W3CDTF">2009-12-29T10:39:27Z</dcterms:created>
  <dcterms:modified xsi:type="dcterms:W3CDTF">2026-01-20T09:39:06Z</dcterms:modified>
</cp:coreProperties>
</file>