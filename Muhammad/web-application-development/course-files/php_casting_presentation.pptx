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B9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7454" y="1392287"/>
            <a:ext cx="1589091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4800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↔ ↑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591772" y="2287637"/>
            <a:ext cx="5960307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Type Casting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901998" y="3068687"/>
            <a:ext cx="33398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Converting Between Data Types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66690" y="3589288"/>
            <a:ext cx="541047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buNone/>
            </a:pPr>
            <a:r>
              <a:rPr lang="en-US" sz="2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(int) (string) (bool) (array)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880892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Casting Statements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53901" y="853976"/>
            <a:ext cx="8636198" cy="453926"/>
          </a:xfrm>
          <a:prstGeom prst="rect">
            <a:avLst/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277713" y="853976"/>
            <a:ext cx="0" cy="453926"/>
          </a:xfrm>
          <a:prstGeom prst="line">
            <a:avLst/>
          </a:prstGeom>
          <a:noFill/>
          <a:ln w="47625">
            <a:solidFill>
              <a:srgbClr val="933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8476" y="980926"/>
            <a:ext cx="85013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variables from one data type to another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53901" y="1460302"/>
            <a:ext cx="2063800" cy="695176"/>
          </a:xfrm>
          <a:prstGeom prst="roundRect">
            <a:avLst>
              <a:gd name="adj" fmla="val 10961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82183" y="1606302"/>
            <a:ext cx="180723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933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(string)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2183" y="1866602"/>
            <a:ext cx="18072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String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44651" y="1460302"/>
            <a:ext cx="2063800" cy="695176"/>
          </a:xfrm>
          <a:prstGeom prst="roundRect">
            <a:avLst>
              <a:gd name="adj" fmla="val 10961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572933" y="1606302"/>
            <a:ext cx="180723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933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(int)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72933" y="1866602"/>
            <a:ext cx="18072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Integer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35401" y="1460302"/>
            <a:ext cx="2063800" cy="695176"/>
          </a:xfrm>
          <a:prstGeom prst="roundRect">
            <a:avLst>
              <a:gd name="adj" fmla="val 10961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63683" y="1606302"/>
            <a:ext cx="180723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933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(float)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63683" y="1866602"/>
            <a:ext cx="18072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Float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26151" y="1460302"/>
            <a:ext cx="2063948" cy="695176"/>
          </a:xfrm>
          <a:prstGeom prst="roundRect">
            <a:avLst>
              <a:gd name="adj" fmla="val 10961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954432" y="1606302"/>
            <a:ext cx="180738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933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(bool)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54432" y="1866602"/>
            <a:ext cx="18073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Boolean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3901" y="2282428"/>
            <a:ext cx="2063800" cy="695176"/>
          </a:xfrm>
          <a:prstGeom prst="roundRect">
            <a:avLst>
              <a:gd name="adj" fmla="val 10961"/>
            </a:avLst>
          </a:prstGeom>
          <a:solidFill>
            <a:srgbClr val="F3E8FF"/>
          </a:solidFill>
          <a:ln w="19050">
            <a:solidFill>
              <a:srgbClr val="9333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82183" y="2428429"/>
            <a:ext cx="180723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933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(array)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82183" y="2688729"/>
            <a:ext cx="18072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Array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444651" y="2282428"/>
            <a:ext cx="2063800" cy="695176"/>
          </a:xfrm>
          <a:prstGeom prst="roundRect">
            <a:avLst>
              <a:gd name="adj" fmla="val 10961"/>
            </a:avLst>
          </a:prstGeom>
          <a:solidFill>
            <a:srgbClr val="F3E8FF"/>
          </a:solidFill>
          <a:ln w="19050">
            <a:solidFill>
              <a:srgbClr val="9333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572933" y="2428429"/>
            <a:ext cx="180723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933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(object)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572933" y="2688729"/>
            <a:ext cx="18072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Object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35401" y="2282428"/>
            <a:ext cx="2063800" cy="695176"/>
          </a:xfrm>
          <a:prstGeom prst="roundRect">
            <a:avLst>
              <a:gd name="adj" fmla="val 10961"/>
            </a:avLst>
          </a:prstGeom>
          <a:solidFill>
            <a:srgbClr val="F3E8FF"/>
          </a:solidFill>
          <a:ln w="19050">
            <a:solidFill>
              <a:srgbClr val="9333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63683" y="2428429"/>
            <a:ext cx="180723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933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(unset)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63683" y="2688729"/>
            <a:ext cx="18072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NULL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26151" y="2282428"/>
            <a:ext cx="2063948" cy="695176"/>
          </a:xfrm>
          <a:prstGeom prst="roundRect">
            <a:avLst>
              <a:gd name="adj" fmla="val 10961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954432" y="2428429"/>
            <a:ext cx="180738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933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var_dump()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54432" y="2688729"/>
            <a:ext cx="18073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type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Cast to String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28600" y="752475"/>
            <a:ext cx="4267200" cy="1465957"/>
          </a:xfrm>
          <a:prstGeom prst="roundRect">
            <a:avLst>
              <a:gd name="adj" fmla="val 5198"/>
            </a:avLst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4848" y="898475"/>
            <a:ext cx="40547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Casting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74600" y="1209526"/>
            <a:ext cx="3975199" cy="862905"/>
          </a:xfrm>
          <a:prstGeom prst="roundRect">
            <a:avLst>
              <a:gd name="adj" fmla="val 5887"/>
            </a:avLst>
          </a:prstGeom>
          <a:solidFill>
            <a:srgbClr val="1F29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76101" y="1336328"/>
            <a:ext cx="38476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 = 5;        // int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76101" y="1494979"/>
            <a:ext cx="38476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$b = 5.34;     // float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76101" y="1653629"/>
            <a:ext cx="38476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 = true;     // bool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6101" y="1812280"/>
            <a:ext cx="38476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$d = NULL;     // NULL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48200" y="752475"/>
            <a:ext cx="4267200" cy="1465957"/>
          </a:xfrm>
          <a:prstGeom prst="roundRect">
            <a:avLst>
              <a:gd name="adj" fmla="val 5198"/>
            </a:avLst>
          </a:prstGeom>
          <a:solidFill>
            <a:srgbClr val="DBEAFE"/>
          </a:solidFill>
          <a:ln w="19050">
            <a:solidFill>
              <a:srgbClr val="3B82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54448" y="898475"/>
            <a:ext cx="40547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(string) Cast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94200" y="1209526"/>
            <a:ext cx="3975199" cy="862905"/>
          </a:xfrm>
          <a:prstGeom prst="roundRect">
            <a:avLst>
              <a:gd name="adj" fmla="val 5887"/>
            </a:avLst>
          </a:prstGeom>
          <a:solidFill>
            <a:srgbClr val="1F29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95701" y="1336328"/>
            <a:ext cx="38476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 = "5"       // string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95701" y="1494979"/>
            <a:ext cx="38476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$b = "5.34"    // string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95701" y="1653629"/>
            <a:ext cx="38476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 = "1"       // string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95701" y="1812280"/>
            <a:ext cx="38476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$d = ""        // string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41732" y="2345382"/>
            <a:ext cx="886053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2400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28600" y="2824758"/>
            <a:ext cx="8686800" cy="876002"/>
          </a:xfrm>
          <a:prstGeom prst="roundRect">
            <a:avLst>
              <a:gd name="adj" fmla="val 5799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30101" y="2926259"/>
            <a:ext cx="86534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Rules: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0101" y="3119884"/>
            <a:ext cx="8483798" cy="42862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buSzPct val="100000"/>
              <a:buChar char="•"/>
            </a:pPr>
            <a:r>
              <a:rPr lang="en-US" sz="1000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 → numeric strings</a:t>
            </a:r>
            <a:endParaRPr lang="en-US" sz="1000" dirty="0"/>
          </a:p>
          <a:p>
            <a:pPr algn="l" marL="101600" indent="-101600">
              <a:buSzPct val="100000"/>
              <a:buChar char="•"/>
            </a:pPr>
            <a:r>
              <a:rPr lang="en-US" sz="1000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→ "1", false → ""</a:t>
            </a:r>
            <a:endParaRPr lang="en-US" sz="1000" dirty="0"/>
          </a:p>
          <a:p>
            <a:pPr algn="l" marL="101600" indent="-101600">
              <a:buSzPct val="100000"/>
              <a:buChar char="•"/>
            </a:pPr>
            <a:r>
              <a:rPr lang="en-US" sz="1000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 → empty string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Cast to Integer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28600" y="752475"/>
            <a:ext cx="8686800" cy="1713607"/>
          </a:xfrm>
          <a:prstGeom prst="roundRect">
            <a:avLst>
              <a:gd name="adj" fmla="val 4447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65075" y="888950"/>
            <a:ext cx="858212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075" y="1200001"/>
            <a:ext cx="4111675" cy="1129605"/>
          </a:xfrm>
          <a:prstGeom prst="roundRect">
            <a:avLst>
              <a:gd name="adj" fmla="val 4497"/>
            </a:avLst>
          </a:prstGeom>
          <a:solidFill>
            <a:srgbClr val="1F29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41275" y="1301502"/>
            <a:ext cx="40384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 = 5.34;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41275" y="1460153"/>
            <a:ext cx="40384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$b = "25 kilometers";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41275" y="1618804"/>
            <a:ext cx="40384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 = "kilometers 25";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41275" y="1777454"/>
            <a:ext cx="40384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$d = "hello";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1275" y="1936105"/>
            <a:ext cx="40384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 = true;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41275" y="2094756"/>
            <a:ext cx="40384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$f = NULL;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67250" y="1200001"/>
            <a:ext cx="4111675" cy="1129605"/>
          </a:xfrm>
          <a:prstGeom prst="roundRect">
            <a:avLst>
              <a:gd name="adj" fmla="val 4497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43450" y="1301502"/>
            <a:ext cx="40384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64E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(int)$a = 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43450" y="1460153"/>
            <a:ext cx="40384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64E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(int)$b = 25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43450" y="1618804"/>
            <a:ext cx="40384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64E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(int)$c = 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43450" y="1777454"/>
            <a:ext cx="40384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64E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(int)$d = 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43450" y="1936105"/>
            <a:ext cx="40384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64E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(int)$e = 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43450" y="2094756"/>
            <a:ext cx="40384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64E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(int)$f = 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8600" y="2593032"/>
            <a:ext cx="8686800" cy="876002"/>
          </a:xfrm>
          <a:prstGeom prst="rect">
            <a:avLst/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247650" y="2593032"/>
            <a:ext cx="0" cy="876002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8201" y="2694533"/>
            <a:ext cx="86146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String Conversion Rules: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8201" y="2888159"/>
            <a:ext cx="8445698" cy="42862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buSzPct val="100000"/>
              <a:buChar char="•"/>
            </a:pPr>
            <a:r>
              <a:rPr lang="en-US" sz="10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 starting with number → extracts number</a:t>
            </a:r>
            <a:endParaRPr lang="en-US" sz="1000" dirty="0"/>
          </a:p>
          <a:p>
            <a:pPr algn="l" marL="101600" indent="-101600">
              <a:buSzPct val="100000"/>
              <a:buChar char="•"/>
            </a:pPr>
            <a:r>
              <a:rPr lang="en-US" sz="10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 starting with text → becomes 0</a:t>
            </a:r>
            <a:endParaRPr lang="en-US" sz="1000" dirty="0"/>
          </a:p>
          <a:p>
            <a:pPr algn="l" marL="101600" indent="-101600">
              <a:buSzPct val="100000"/>
              <a:buChar char="•"/>
            </a:pPr>
            <a:r>
              <a:rPr lang="en-US" sz="10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Floats truncate decimal part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Cast to Boolean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28600" y="752475"/>
            <a:ext cx="4267200" cy="1941909"/>
          </a:xfrm>
          <a:prstGeom prst="roundRect">
            <a:avLst>
              <a:gd name="adj" fmla="val 3924"/>
            </a:avLst>
          </a:prstGeom>
          <a:solidFill>
            <a:srgbClr val="FEE2E2"/>
          </a:solidFill>
          <a:ln w="19050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4848" y="898475"/>
            <a:ext cx="40547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Converts to FALSE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74600" y="1209526"/>
            <a:ext cx="3975199" cy="1338858"/>
          </a:xfrm>
          <a:prstGeom prst="roundRect">
            <a:avLst>
              <a:gd name="adj" fmla="val 3794"/>
            </a:avLst>
          </a:prstGeom>
          <a:solidFill>
            <a:srgbClr val="1F29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76101" y="1336328"/>
            <a:ext cx="38476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        // zero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76101" y="1494979"/>
            <a:ext cx="38476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       // zero float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76101" y="1653629"/>
            <a:ext cx="38476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        // empty string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6101" y="1812280"/>
            <a:ext cx="38476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"0"       // string zero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6101" y="1970931"/>
            <a:ext cx="38476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      // null value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6101" y="2129582"/>
            <a:ext cx="38476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     // already false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6101" y="2288232"/>
            <a:ext cx="38476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        // empty array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48200" y="752475"/>
            <a:ext cx="4267200" cy="1941909"/>
          </a:xfrm>
          <a:prstGeom prst="roundRect">
            <a:avLst>
              <a:gd name="adj" fmla="val 3924"/>
            </a:avLst>
          </a:prstGeom>
          <a:solidFill>
            <a:srgbClr val="D1FAE5"/>
          </a:solidFill>
          <a:ln w="19050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54448" y="898475"/>
            <a:ext cx="40547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Converts to TRUE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94200" y="1209526"/>
            <a:ext cx="3975199" cy="1338858"/>
          </a:xfrm>
          <a:prstGeom prst="roundRect">
            <a:avLst>
              <a:gd name="adj" fmla="val 3794"/>
            </a:avLst>
          </a:prstGeom>
          <a:solidFill>
            <a:srgbClr val="1F29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95701" y="1336328"/>
            <a:ext cx="38476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       // any non-zero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95701" y="1494979"/>
            <a:ext cx="38476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        // negative too!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95701" y="1653629"/>
            <a:ext cx="38476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       // any float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5701" y="1812280"/>
            <a:ext cx="38476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   // non-empty string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95701" y="1970931"/>
            <a:ext cx="38476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"false"   // string "false"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5701" y="2129582"/>
            <a:ext cx="38476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     // already true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95701" y="2288232"/>
            <a:ext cx="38476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[1,2]     // non-empty array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" y="2821335"/>
            <a:ext cx="8686800" cy="406301"/>
          </a:xfrm>
          <a:prstGeom prst="roundRect">
            <a:avLst>
              <a:gd name="adj" fmla="val 12503"/>
            </a:avLst>
          </a:prstGeom>
          <a:solidFill>
            <a:srgbClr val="F3E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71221" y="2948285"/>
            <a:ext cx="86015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 Even -1 and string "false" convert to TRUE!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Cast to Array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28600" y="752475"/>
            <a:ext cx="4267200" cy="2281535"/>
          </a:xfrm>
          <a:prstGeom prst="roundRect">
            <a:avLst>
              <a:gd name="adj" fmla="val 334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9626" y="863501"/>
            <a:ext cx="41260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Scalar to Array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39626" y="1139726"/>
            <a:ext cx="4045148" cy="653653"/>
          </a:xfrm>
          <a:prstGeom prst="roundRect">
            <a:avLst>
              <a:gd name="adj" fmla="val 7772"/>
            </a:avLst>
          </a:prstGeom>
          <a:solidFill>
            <a:srgbClr val="1F29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15826" y="1241227"/>
            <a:ext cx="39706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 = 5;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5826" y="1399877"/>
            <a:ext cx="39706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$b = "hello";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5826" y="1558528"/>
            <a:ext cx="39706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 = true;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9626" y="1869579"/>
            <a:ext cx="4045148" cy="596503"/>
          </a:xfrm>
          <a:prstGeom prst="roundRect">
            <a:avLst>
              <a:gd name="adj" fmla="val 8516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15826" y="1971080"/>
            <a:ext cx="397060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64E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(array)$a = [0 =&gt; 5]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15826" y="2110680"/>
            <a:ext cx="397060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64E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(array)$b = [0 =&gt; "hello"]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15826" y="2250281"/>
            <a:ext cx="397060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64E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(array)$c = [0 =&gt; true]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48200" y="752475"/>
            <a:ext cx="4267200" cy="2281535"/>
          </a:xfrm>
          <a:prstGeom prst="roundRect">
            <a:avLst>
              <a:gd name="adj" fmla="val 334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59226" y="863501"/>
            <a:ext cx="41260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to Array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9226" y="1139726"/>
            <a:ext cx="4045148" cy="970955"/>
          </a:xfrm>
          <a:prstGeom prst="roundRect">
            <a:avLst>
              <a:gd name="adj" fmla="val 5232"/>
            </a:avLst>
          </a:prstGeom>
          <a:solidFill>
            <a:srgbClr val="1F29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35426" y="1241227"/>
            <a:ext cx="39706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Car {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35426" y="1399877"/>
            <a:ext cx="39706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$color = "red";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35426" y="1558528"/>
            <a:ext cx="39706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$model = "Volvo";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35426" y="1717179"/>
            <a:ext cx="39706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35426" y="1875830"/>
            <a:ext cx="39706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$car = new Car();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9226" y="2186880"/>
            <a:ext cx="4045148" cy="736104"/>
          </a:xfrm>
          <a:prstGeom prst="roundRect">
            <a:avLst>
              <a:gd name="adj" fmla="val 6901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35426" y="2288381"/>
            <a:ext cx="397060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64E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(array)$car = [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35426" y="2427982"/>
            <a:ext cx="397060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64E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"color" =&gt; "red",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35426" y="2567583"/>
            <a:ext cx="397060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64E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"model" =&gt; "Volvo"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35426" y="2707184"/>
            <a:ext cx="397060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64E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28600" y="3135511"/>
            <a:ext cx="8686800" cy="345877"/>
          </a:xfrm>
          <a:prstGeom prst="roundRect">
            <a:avLst>
              <a:gd name="adj" fmla="val 14687"/>
            </a:avLst>
          </a:prstGeom>
          <a:solidFill>
            <a:srgbClr val="F3E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30101" y="3237012"/>
            <a:ext cx="86534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Rules:</a:t>
            </a:r>
            <a:pPr algn="l" indent="0" marL="0">
              <a:buNone/>
            </a:pPr>
            <a:r>
              <a:rPr lang="en-US" sz="1000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Scalars → indexed array [0 =&gt; value] | NULL → empty array | Objects → associative array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Cast to Object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28600" y="752475"/>
            <a:ext cx="4267200" cy="2103834"/>
          </a:xfrm>
          <a:prstGeom prst="roundRect">
            <a:avLst>
              <a:gd name="adj" fmla="val 3622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9626" y="863501"/>
            <a:ext cx="41260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Scalar to Object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39626" y="1139726"/>
            <a:ext cx="4045148" cy="653653"/>
          </a:xfrm>
          <a:prstGeom prst="roundRect">
            <a:avLst>
              <a:gd name="adj" fmla="val 7772"/>
            </a:avLst>
          </a:prstGeom>
          <a:solidFill>
            <a:srgbClr val="1F29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15826" y="1241227"/>
            <a:ext cx="39706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 = 5;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5826" y="1399877"/>
            <a:ext cx="39706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$b = "hello";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5826" y="1558528"/>
            <a:ext cx="39706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 = NULL;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9626" y="1869579"/>
            <a:ext cx="4045148" cy="875705"/>
          </a:xfrm>
          <a:prstGeom prst="roundRect">
            <a:avLst>
              <a:gd name="adj" fmla="val 5801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15826" y="1971080"/>
            <a:ext cx="397060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(object)$a: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15826" y="2110680"/>
            <a:ext cx="397060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-&gt;scalar = 5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15826" y="2250281"/>
            <a:ext cx="397060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(object)$b: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15826" y="2389882"/>
            <a:ext cx="397060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-&gt;scalar = "hello"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15826" y="2529483"/>
            <a:ext cx="397060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(object)$c = {} // empty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48200" y="752475"/>
            <a:ext cx="4267200" cy="2103834"/>
          </a:xfrm>
          <a:prstGeom prst="roundRect">
            <a:avLst>
              <a:gd name="adj" fmla="val 3622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59226" y="863501"/>
            <a:ext cx="41260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 to Object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9226" y="1139726"/>
            <a:ext cx="4045148" cy="812304"/>
          </a:xfrm>
          <a:prstGeom prst="roundRect">
            <a:avLst>
              <a:gd name="adj" fmla="val 6254"/>
            </a:avLst>
          </a:prstGeom>
          <a:solidFill>
            <a:srgbClr val="1F29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35426" y="1241227"/>
            <a:ext cx="39706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$arr = [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35426" y="1399877"/>
            <a:ext cx="39706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 =&gt; "John",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35426" y="1558528"/>
            <a:ext cx="39706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"age" =&gt; 30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35426" y="1717179"/>
            <a:ext cx="39706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9226" y="2028230"/>
            <a:ext cx="4045148" cy="596503"/>
          </a:xfrm>
          <a:prstGeom prst="roundRect">
            <a:avLst>
              <a:gd name="adj" fmla="val 8516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35426" y="2129730"/>
            <a:ext cx="397060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(object)$arr: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35426" y="2269331"/>
            <a:ext cx="397060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-&gt;name = "John"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35426" y="2408932"/>
            <a:ext cx="397060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-&gt;age = 30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28600" y="2957810"/>
            <a:ext cx="8686800" cy="876002"/>
          </a:xfrm>
          <a:prstGeom prst="roundRect">
            <a:avLst>
              <a:gd name="adj" fmla="val 5799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30101" y="3059311"/>
            <a:ext cx="86534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Rules: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0101" y="3252936"/>
            <a:ext cx="8483798" cy="42862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buSzPct val="100000"/>
              <a:buChar char="•"/>
            </a:pPr>
            <a:r>
              <a:rPr lang="en-US" sz="10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Scalars get "scalar" property</a:t>
            </a:r>
            <a:endParaRPr lang="en-US" sz="1000" dirty="0"/>
          </a:p>
          <a:p>
            <a:pPr algn="l" marL="101600" indent="-101600">
              <a:buSzPct val="100000"/>
              <a:buChar char="•"/>
            </a:pPr>
            <a:r>
              <a:rPr lang="en-US" sz="10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Arrays keys become properties</a:t>
            </a:r>
            <a:endParaRPr lang="en-US" sz="1000" dirty="0"/>
          </a:p>
          <a:p>
            <a:pPr algn="l" marL="101600" indent="-101600">
              <a:buSzPct val="100000"/>
              <a:buChar char="•"/>
            </a:pPr>
            <a:r>
              <a:rPr lang="en-US" sz="10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 → empty object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539" y="253901"/>
            <a:ext cx="8808922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3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Casting Quick Reference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253901" y="911126"/>
            <a:ext cx="2794099" cy="930622"/>
          </a:xfrm>
          <a:prstGeom prst="roundRect">
            <a:avLst>
              <a:gd name="adj" fmla="val 8188"/>
            </a:avLst>
          </a:prstGeom>
          <a:solidFill>
            <a:srgbClr val="3741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55402" y="1012627"/>
            <a:ext cx="26429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(string)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55402" y="1260277"/>
            <a:ext cx="2591098" cy="479971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260"/>
              </a:lnSpc>
              <a:buSzPct val="100000"/>
              <a:buChar char="•"/>
            </a:pPr>
            <a:r>
              <a:rPr lang="en-US" sz="9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→ "1"</a:t>
            </a:r>
            <a:endParaRPr lang="en-US" sz="900" dirty="0"/>
          </a:p>
          <a:p>
            <a:pPr algn="l" marL="101600" indent="-101600">
              <a:lnSpc>
                <a:spcPts val="1260"/>
              </a:lnSpc>
              <a:buSzPct val="100000"/>
              <a:buChar char="•"/>
            </a:pPr>
            <a:r>
              <a:rPr lang="en-US" sz="9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→ ""</a:t>
            </a:r>
            <a:endParaRPr lang="en-US" sz="900" dirty="0"/>
          </a:p>
          <a:p>
            <a:pPr algn="l" marL="101600" indent="-101600">
              <a:lnSpc>
                <a:spcPts val="1260"/>
              </a:lnSpc>
              <a:buSzPct val="100000"/>
              <a:buChar char="•"/>
            </a:pPr>
            <a:r>
              <a:rPr lang="en-US" sz="9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 → ""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174950" y="911126"/>
            <a:ext cx="2794099" cy="930622"/>
          </a:xfrm>
          <a:prstGeom prst="roundRect">
            <a:avLst>
              <a:gd name="adj" fmla="val 8188"/>
            </a:avLst>
          </a:prstGeom>
          <a:solidFill>
            <a:srgbClr val="3741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276451" y="1012627"/>
            <a:ext cx="26429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(int)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76451" y="1260277"/>
            <a:ext cx="2591098" cy="479971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260"/>
              </a:lnSpc>
              <a:buSzPct val="100000"/>
              <a:buChar char="•"/>
            </a:pPr>
            <a:r>
              <a:rPr lang="en-US" sz="9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"25km" → 25</a:t>
            </a:r>
            <a:endParaRPr lang="en-US" sz="900" dirty="0"/>
          </a:p>
          <a:p>
            <a:pPr algn="l" marL="101600" indent="-101600">
              <a:lnSpc>
                <a:spcPts val="1260"/>
              </a:lnSpc>
              <a:buSzPct val="100000"/>
              <a:buChar char="•"/>
            </a:pPr>
            <a:r>
              <a:rPr lang="en-US" sz="9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"km25" → 0</a:t>
            </a:r>
            <a:endParaRPr lang="en-US" sz="900" dirty="0"/>
          </a:p>
          <a:p>
            <a:pPr algn="l" marL="101600" indent="-101600">
              <a:lnSpc>
                <a:spcPts val="1260"/>
              </a:lnSpc>
              <a:buSzPct val="100000"/>
              <a:buChar char="•"/>
            </a:pPr>
            <a:r>
              <a:rPr lang="en-US" sz="9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→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096000" y="911126"/>
            <a:ext cx="2794099" cy="930622"/>
          </a:xfrm>
          <a:prstGeom prst="roundRect">
            <a:avLst>
              <a:gd name="adj" fmla="val 8188"/>
            </a:avLst>
          </a:prstGeom>
          <a:solidFill>
            <a:srgbClr val="3741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197501" y="1012627"/>
            <a:ext cx="26429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(bool)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97501" y="1260277"/>
            <a:ext cx="2591098" cy="479971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260"/>
              </a:lnSpc>
              <a:buSzPct val="100000"/>
              <a:buChar char="•"/>
            </a:pPr>
            <a:r>
              <a:rPr lang="en-US" sz="9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 "" → false</a:t>
            </a:r>
            <a:endParaRPr lang="en-US" sz="900" dirty="0"/>
          </a:p>
          <a:p>
            <a:pPr algn="l" marL="101600" indent="-101600">
              <a:lnSpc>
                <a:spcPts val="1260"/>
              </a:lnSpc>
              <a:buSzPct val="100000"/>
              <a:buChar char="•"/>
            </a:pPr>
            <a:r>
              <a:rPr lang="en-US" sz="9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→ true</a:t>
            </a:r>
            <a:endParaRPr lang="en-US" sz="900" dirty="0"/>
          </a:p>
          <a:p>
            <a:pPr algn="l" marL="101600" indent="-101600">
              <a:lnSpc>
                <a:spcPts val="1260"/>
              </a:lnSpc>
              <a:buSzPct val="100000"/>
              <a:buChar char="•"/>
            </a:pPr>
            <a:r>
              <a:rPr lang="en-US" sz="9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"false" → true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3901" y="1968698"/>
            <a:ext cx="2794099" cy="770632"/>
          </a:xfrm>
          <a:prstGeom prst="roundRect">
            <a:avLst>
              <a:gd name="adj" fmla="val 9888"/>
            </a:avLst>
          </a:prstGeom>
          <a:solidFill>
            <a:srgbClr val="3741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55402" y="2070199"/>
            <a:ext cx="26429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(float)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5402" y="2317849"/>
            <a:ext cx="2591098" cy="31998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260"/>
              </a:lnSpc>
              <a:buSzPct val="100000"/>
              <a:buChar char="•"/>
            </a:pPr>
            <a:r>
              <a:rPr lang="en-US" sz="9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as (int)</a:t>
            </a:r>
            <a:endParaRPr lang="en-US" sz="900" dirty="0"/>
          </a:p>
          <a:p>
            <a:pPr algn="l" marL="101600" indent="-101600">
              <a:lnSpc>
                <a:spcPts val="1260"/>
              </a:lnSpc>
              <a:buSzPct val="100000"/>
              <a:buChar char="•"/>
            </a:pPr>
            <a:r>
              <a:rPr lang="en-US" sz="9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decimals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174950" y="1968698"/>
            <a:ext cx="2794099" cy="770632"/>
          </a:xfrm>
          <a:prstGeom prst="roundRect">
            <a:avLst>
              <a:gd name="adj" fmla="val 9888"/>
            </a:avLst>
          </a:prstGeom>
          <a:solidFill>
            <a:srgbClr val="3741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276451" y="2070199"/>
            <a:ext cx="26429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(array)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76451" y="2317849"/>
            <a:ext cx="2591098" cy="31998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260"/>
              </a:lnSpc>
              <a:buSzPct val="100000"/>
              <a:buChar char="•"/>
            </a:pPr>
            <a:r>
              <a:rPr lang="en-US" sz="9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Scalar → [0=&gt;val]</a:t>
            </a:r>
            <a:endParaRPr lang="en-US" sz="900" dirty="0"/>
          </a:p>
          <a:p>
            <a:pPr algn="l" marL="101600" indent="-101600">
              <a:lnSpc>
                <a:spcPts val="1260"/>
              </a:lnSpc>
              <a:buSzPct val="100000"/>
              <a:buChar char="•"/>
            </a:pPr>
            <a:r>
              <a:rPr lang="en-US" sz="9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 → []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096000" y="1968698"/>
            <a:ext cx="2794099" cy="770632"/>
          </a:xfrm>
          <a:prstGeom prst="roundRect">
            <a:avLst>
              <a:gd name="adj" fmla="val 9888"/>
            </a:avLst>
          </a:prstGeom>
          <a:solidFill>
            <a:srgbClr val="3741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197501" y="2070199"/>
            <a:ext cx="26429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(object)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97501" y="2317849"/>
            <a:ext cx="2591098" cy="31998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260"/>
              </a:lnSpc>
              <a:buSzPct val="100000"/>
              <a:buChar char="•"/>
            </a:pPr>
            <a:r>
              <a:rPr lang="en-US" sz="9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Scalar → -&gt;scalar</a:t>
            </a:r>
            <a:endParaRPr lang="en-US" sz="900" dirty="0"/>
          </a:p>
          <a:p>
            <a:pPr algn="l" marL="101600" indent="-101600">
              <a:lnSpc>
                <a:spcPts val="1260"/>
              </a:lnSpc>
              <a:buSzPct val="100000"/>
              <a:buChar char="•"/>
            </a:pPr>
            <a:r>
              <a:rPr lang="en-US" sz="9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 → properties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3901" y="2929830"/>
            <a:ext cx="8636198" cy="1454051"/>
          </a:xfrm>
          <a:prstGeom prst="roundRect">
            <a:avLst>
              <a:gd name="adj" fmla="val 5241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06301" y="3082230"/>
            <a:ext cx="849802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06301" y="3393281"/>
            <a:ext cx="8331398" cy="83820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var_dump() to verify type after casting</a:t>
            </a:r>
            <a:endParaRPr lang="en-US" sz="1100" dirty="0"/>
          </a:p>
          <a:p>
            <a:pPr algn="l" marL="127000" indent="-1270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 "false" converts to boolean true!</a:t>
            </a:r>
            <a:endParaRPr lang="en-US" sz="1100" dirty="0"/>
          </a:p>
          <a:p>
            <a:pPr algn="l" marL="127000" indent="-1270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Casting truncates data (float to int loses decimals)</a:t>
            </a:r>
            <a:endParaRPr lang="en-US" sz="1100" dirty="0"/>
          </a:p>
          <a:p>
            <a:pPr algn="l" marL="127000" indent="-1270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(unset) always returns NULL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PHP Casting</dc:title>
  <dc:subject>PptxGenJS Presentation</dc:subject>
  <dc:creator>PptxGenJS</dc:creator>
  <cp:lastModifiedBy>PptxGenJS</cp:lastModifiedBy>
  <cp:revision>1</cp:revision>
  <dcterms:created xsi:type="dcterms:W3CDTF">2025-09-27T08:57:27Z</dcterms:created>
  <dcterms:modified xsi:type="dcterms:W3CDTF">2025-09-27T08:57:27Z</dcterms:modified>
</cp:coreProperties>
</file>