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F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64524" y="1755725"/>
            <a:ext cx="5614952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Syntax Overview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408024" y="2565350"/>
            <a:ext cx="432795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20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Essential Guide to PHP Programming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87277" y="3178076"/>
            <a:ext cx="256944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500"/>
              </a:spcBef>
              <a:buNone/>
            </a:pPr>
            <a:r>
              <a:rPr lang="en-US" sz="1400" dirty="0">
                <a:solidFill>
                  <a:srgbClr val="B8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Scripting Language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7450" y="838051"/>
            <a:ext cx="8509099" cy="0"/>
          </a:xfrm>
          <a:prstGeom prst="line">
            <a:avLst/>
          </a:prstGeom>
          <a:noFill/>
          <a:ln w="19050">
            <a:solidFill>
              <a:srgbClr val="00BC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7450" y="317450"/>
            <a:ext cx="867928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3D2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PHP?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17450" y="1038076"/>
            <a:ext cx="8509099" cy="16002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scripting language</a:t>
            </a:r>
            <a:endParaRPr lang="en-US" sz="1400" dirty="0"/>
          </a:p>
          <a:p>
            <a:pPr algn="l" marL="127000" indent="-1270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similar to C Language</a:t>
            </a:r>
            <a:endParaRPr lang="en-US" sz="1400" dirty="0"/>
          </a:p>
          <a:p>
            <a:pPr algn="l" marL="127000" indent="-1270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stored with .php extension</a:t>
            </a:r>
            <a:endParaRPr lang="en-US" sz="1400" dirty="0"/>
          </a:p>
          <a:p>
            <a:pPr algn="l" marL="127000" indent="-1270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pages with PHP code in HTML</a:t>
            </a:r>
            <a:endParaRPr lang="en-US" sz="1400" dirty="0"/>
          </a:p>
          <a:p>
            <a:pPr algn="l" marL="127000" indent="-1270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accessed via HTTP protocol</a:t>
            </a:r>
            <a:endParaRPr lang="en-US" sz="1400" dirty="0"/>
          </a:p>
          <a:p>
            <a:pPr algn="l" marL="127000" indent="-127000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Processed by server before browser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67928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3D2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Tags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17450" y="980926"/>
            <a:ext cx="8679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PHP Tags (Recommended)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17450" y="1349127"/>
            <a:ext cx="8509099" cy="434876"/>
          </a:xfrm>
          <a:prstGeom prst="roundRect">
            <a:avLst>
              <a:gd name="adj" fmla="val 1168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4401" y="1476077"/>
            <a:ext cx="84203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echo "Hello World!"; ?&gt;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7450" y="1910953"/>
            <a:ext cx="8679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Short-open Tags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7450" y="2279154"/>
            <a:ext cx="8509099" cy="434876"/>
          </a:xfrm>
          <a:prstGeom prst="roundRect">
            <a:avLst>
              <a:gd name="adj" fmla="val 1168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44401" y="2406104"/>
            <a:ext cx="84203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 echo "Hello Everyone!"; ?&gt;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7450" y="2840980"/>
            <a:ext cx="86792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Requires short_open_tag=on in php.ini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67928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3D2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Escaping from HTML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17450" y="980926"/>
            <a:ext cx="8509099" cy="3844975"/>
          </a:xfrm>
          <a:prstGeom prst="roundRect">
            <a:avLst>
              <a:gd name="adj" fmla="val 1321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07950" y="1209526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is HTML&lt;/p&gt;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50" y="1419076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echo 'This is PHP'; ?&gt;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628626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&lt;p&gt;More HTML&lt;/p&gt;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950" y="2047726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if ($x): ?&gt;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2257276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 rendered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950" y="2466826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else: ?&gt;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950" y="2676376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 HTML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2885926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endif; ?&gt;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67928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3D2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Syntax of PHP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17450" y="980926"/>
            <a:ext cx="41778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450" y="1320552"/>
            <a:ext cx="4095899" cy="6929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with semicolon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per line OK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span lines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7450" y="2140446"/>
            <a:ext cx="4095899" cy="406003"/>
          </a:xfrm>
          <a:prstGeom prst="roundRect">
            <a:avLst>
              <a:gd name="adj" fmla="val 12512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18951" y="2267248"/>
            <a:ext cx="3970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$greeting = "Hi!";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30800" y="980926"/>
            <a:ext cx="417781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30800" y="1320552"/>
            <a:ext cx="4095899" cy="6929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&amp; operators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Numbers, strings</a:t>
            </a:r>
            <a:endParaRPr lang="en-US" sz="1300" dirty="0"/>
          </a:p>
          <a:p>
            <a:pPr algn="l" marL="114300" indent="-114300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constants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30800" y="2140446"/>
            <a:ext cx="4095899" cy="761405"/>
          </a:xfrm>
          <a:prstGeom prst="roundRect">
            <a:avLst>
              <a:gd name="adj" fmla="val 6672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32300" y="2267248"/>
            <a:ext cx="3970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3.14159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32300" y="2444948"/>
            <a:ext cx="3970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32300" y="2622649"/>
            <a:ext cx="397075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$name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67928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3D2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Case Sensitivity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17450" y="980926"/>
            <a:ext cx="8509099" cy="552450"/>
          </a:xfrm>
          <a:prstGeom prst="roundRect">
            <a:avLst>
              <a:gd name="adj" fmla="val 9195"/>
            </a:avLst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88900" y="1152376"/>
            <a:ext cx="83295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PHP is Case Sensitive!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7450" y="1723876"/>
            <a:ext cx="4177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Wrong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7450" y="2073027"/>
            <a:ext cx="4095899" cy="672703"/>
          </a:xfrm>
          <a:prstGeom prst="roundRect">
            <a:avLst>
              <a:gd name="adj" fmla="val 7552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4401" y="2225278"/>
            <a:ext cx="3918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$age = 25;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4401" y="2422029"/>
            <a:ext cx="3918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$Age; // Error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30800" y="1723876"/>
            <a:ext cx="417781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Correct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30800" y="2073027"/>
            <a:ext cx="4095899" cy="672703"/>
          </a:xfrm>
          <a:prstGeom prst="roundRect">
            <a:avLst>
              <a:gd name="adj" fmla="val 7552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57750" y="2225278"/>
            <a:ext cx="3918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$age = 25;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57750" y="2422029"/>
            <a:ext cx="39188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$age; // OK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450" y="317450"/>
            <a:ext cx="867928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3D2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and Web Technologies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17450" y="980926"/>
            <a:ext cx="1984474" cy="698302"/>
          </a:xfrm>
          <a:prstGeom prst="roundRect">
            <a:avLst>
              <a:gd name="adj" fmla="val 727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6811" y="1117402"/>
            <a:ext cx="17457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36811" y="1390352"/>
            <a:ext cx="17457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92425" y="980926"/>
            <a:ext cx="1984474" cy="698302"/>
          </a:xfrm>
          <a:prstGeom prst="roundRect">
            <a:avLst>
              <a:gd name="adj" fmla="val 727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11785" y="1117402"/>
            <a:ext cx="17457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11785" y="1390352"/>
            <a:ext cx="17457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7399" y="980926"/>
            <a:ext cx="1984474" cy="698302"/>
          </a:xfrm>
          <a:prstGeom prst="roundRect">
            <a:avLst>
              <a:gd name="adj" fmla="val 727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86759" y="1117402"/>
            <a:ext cx="17457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86759" y="1390352"/>
            <a:ext cx="17457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42373" y="980926"/>
            <a:ext cx="1984474" cy="698302"/>
          </a:xfrm>
          <a:prstGeom prst="roundRect">
            <a:avLst>
              <a:gd name="adj" fmla="val 7275"/>
            </a:avLst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61733" y="1117402"/>
            <a:ext cx="17457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61733" y="1390352"/>
            <a:ext cx="17457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7450" y="1869728"/>
            <a:ext cx="8509099" cy="1609725"/>
          </a:xfrm>
          <a:prstGeom prst="roundRect">
            <a:avLst>
              <a:gd name="adj" fmla="val 3156"/>
            </a:avLst>
          </a:prstGeom>
          <a:solidFill>
            <a:srgbClr val="3D2F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7950" y="2098328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 Flow: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950" y="2336453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Browser requests .php file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950" y="2574578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Server processes PHP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950" y="2812703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HTML/CSS/JS sent to browser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950" y="3050828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Browser renders the page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915144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3200" b="1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7950" y="1699320"/>
            <a:ext cx="8128099" cy="2452688"/>
          </a:xfrm>
          <a:prstGeom prst="rect">
            <a:avLst/>
          </a:prstGeom>
          <a:noFill/>
          <a:ln/>
        </p:spPr>
        <p:txBody>
          <a:bodyPr wrap="square" lIns="254000" tIns="0" rIns="0" bIns="0" rtlCol="0" anchor="t"/>
          <a:lstStyle/>
          <a:p>
            <a:pPr algn="l" marL="254000" indent="-254000">
              <a:lnSpc>
                <a:spcPts val="272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canonical PHP tags: &lt;?php ... ?&gt;</a:t>
            </a:r>
            <a:endParaRPr lang="en-US" sz="1600" dirty="0"/>
          </a:p>
          <a:p>
            <a:pPr algn="l" marL="254000" indent="-254000">
              <a:lnSpc>
                <a:spcPts val="272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Statements end with semicolon (;)</a:t>
            </a:r>
            <a:endParaRPr lang="en-US" sz="1600" dirty="0"/>
          </a:p>
          <a:p>
            <a:pPr algn="l" marL="254000" indent="-254000">
              <a:lnSpc>
                <a:spcPts val="272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is case-sensitive</a:t>
            </a:r>
            <a:endParaRPr lang="en-US" sz="1600" dirty="0"/>
          </a:p>
          <a:p>
            <a:pPr algn="l" marL="254000" indent="-254000">
              <a:lnSpc>
                <a:spcPts val="272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be mixed with HTML</a:t>
            </a:r>
            <a:endParaRPr lang="en-US" sz="1600" dirty="0"/>
          </a:p>
          <a:p>
            <a:pPr algn="l" marL="254000" indent="-254000">
              <a:lnSpc>
                <a:spcPts val="272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be accessed via HTTP protocol</a:t>
            </a:r>
            <a:endParaRPr lang="en-US" sz="1600" dirty="0"/>
          </a:p>
          <a:p>
            <a:pPr algn="l" marL="254000" indent="-254000">
              <a:lnSpc>
                <a:spcPts val="272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processes PHP before sending to browser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Syntax Overview</dc:title>
  <dc:subject>PptxGenJS Presentation</dc:subject>
  <dc:creator>PptxGenJS</dc:creator>
  <cp:lastModifiedBy>PptxGenJS</cp:lastModifiedBy>
  <cp:revision>1</cp:revision>
  <dcterms:created xsi:type="dcterms:W3CDTF">2025-09-27T07:52:40Z</dcterms:created>
  <dcterms:modified xsi:type="dcterms:W3CDTF">2025-09-27T07:52:40Z</dcterms:modified>
</cp:coreProperties>
</file>