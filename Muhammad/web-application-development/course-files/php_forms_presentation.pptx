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18920" y="1509713"/>
            <a:ext cx="37061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Forms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2718920" y="2551063"/>
            <a:ext cx="370616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Handling User Input Securely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18920" y="3192363"/>
            <a:ext cx="370616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5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Handling • Validation • Security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3901" y="771376"/>
            <a:ext cx="8636198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3901" y="253901"/>
            <a:ext cx="880892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Form Basics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3901" y="980926"/>
            <a:ext cx="4159448" cy="1675507"/>
          </a:xfrm>
          <a:prstGeom prst="roundRect">
            <a:avLst>
              <a:gd name="adj" fmla="val 606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6301" y="1158627"/>
            <a:ext cx="39317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action=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"process.php"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06301" y="1326803"/>
            <a:ext cx="39317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method=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"POST"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06301" y="1494979"/>
            <a:ext cx="39317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&lt;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type=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06301" y="1663154"/>
            <a:ext cx="39317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name=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6301" y="1831330"/>
            <a:ext cx="39317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Email: &lt;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type=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6301" y="1999506"/>
            <a:ext cx="39317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name=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6301" y="2167682"/>
            <a:ext cx="39317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type=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"submit"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6301" y="2335857"/>
            <a:ext cx="39317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30800" y="980926"/>
            <a:ext cx="4159448" cy="1187351"/>
          </a:xfrm>
          <a:prstGeom prst="roundRect">
            <a:avLst>
              <a:gd name="adj" fmla="val 8557"/>
            </a:avLst>
          </a:prstGeom>
          <a:solidFill>
            <a:srgbClr val="E0E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83200" y="1133326"/>
            <a:ext cx="39317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Attributes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83200" y="1444377"/>
            <a:ext cx="393174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Where to send data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83200" y="1634877"/>
            <a:ext cx="393174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method: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GET or POST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83200" y="1825377"/>
            <a:ext cx="393174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name: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Field identifier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30800" y="2320677"/>
            <a:ext cx="4159448" cy="996851"/>
          </a:xfrm>
          <a:prstGeom prst="roundRect">
            <a:avLst>
              <a:gd name="adj" fmla="val 10192"/>
            </a:avLst>
          </a:prstGeom>
          <a:solidFill>
            <a:srgbClr val="E0E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83200" y="2473077"/>
            <a:ext cx="39317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Superglobals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83200" y="2784128"/>
            <a:ext cx="393174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$_GET: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URL parameters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83200" y="2974628"/>
            <a:ext cx="393174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$_POST: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Form data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80892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6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vs POST Methods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53901" y="815876"/>
            <a:ext cx="4191149" cy="3428107"/>
          </a:xfrm>
          <a:prstGeom prst="roundRect">
            <a:avLst>
              <a:gd name="adj" fmla="val 2964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3451" y="1025426"/>
            <a:ext cx="38474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Method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63451" y="1419076"/>
            <a:ext cx="3772049" cy="876002"/>
          </a:xfrm>
          <a:prstGeom prst="roundRect">
            <a:avLst>
              <a:gd name="adj" fmla="val 5799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64952" y="1545878"/>
            <a:ext cx="36404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Advantages: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4952" y="1726853"/>
            <a:ext cx="3569047" cy="428625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buSzPct val="100000"/>
              <a:buChar char="•"/>
            </a:pPr>
            <a:r>
              <a:rPr lang="en-US" sz="10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Bookmarkable</a:t>
            </a:r>
            <a:endParaRPr lang="en-US" sz="1000" dirty="0"/>
          </a:p>
          <a:p>
            <a:pPr algn="l" marL="95250" indent="-95250">
              <a:buSzPct val="100000"/>
              <a:buChar char="•"/>
            </a:pPr>
            <a:r>
              <a:rPr lang="en-US" sz="10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be cached</a:t>
            </a:r>
            <a:endParaRPr lang="en-US" sz="1000" dirty="0"/>
          </a:p>
          <a:p>
            <a:pPr algn="l" marL="95250" indent="-95250">
              <a:buSzPct val="100000"/>
              <a:buChar char="•"/>
            </a:pPr>
            <a:r>
              <a:rPr lang="en-US" sz="10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Remains in browser history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3451" y="2396579"/>
            <a:ext cx="3772049" cy="1018877"/>
          </a:xfrm>
          <a:prstGeom prst="roundRect">
            <a:avLst>
              <a:gd name="adj" fmla="val 4986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64952" y="2523381"/>
            <a:ext cx="36404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Limitations: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4952" y="2704356"/>
            <a:ext cx="3569047" cy="5715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buSzPct val="100000"/>
              <a:buChar char="•"/>
            </a:pPr>
            <a:r>
              <a:rPr lang="en-US" sz="10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in URL</a:t>
            </a:r>
            <a:endParaRPr lang="en-US" sz="1000" dirty="0"/>
          </a:p>
          <a:p>
            <a:pPr algn="l" marL="95250" indent="-95250">
              <a:buSzPct val="100000"/>
              <a:buChar char="•"/>
            </a:pPr>
            <a:r>
              <a:rPr lang="en-US" sz="10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 character limit</a:t>
            </a:r>
            <a:endParaRPr lang="en-US" sz="1000" dirty="0"/>
          </a:p>
          <a:p>
            <a:pPr algn="l" marL="95250" indent="-95250">
              <a:buSzPct val="100000"/>
              <a:buChar char="•"/>
            </a:pPr>
            <a:r>
              <a:rPr lang="en-US" sz="10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for sensitive data!</a:t>
            </a:r>
            <a:endParaRPr lang="en-US" sz="1000" dirty="0"/>
          </a:p>
          <a:p>
            <a:pPr algn="l" marL="95250" indent="-95250">
              <a:buSzPct val="100000"/>
              <a:buChar char="•"/>
            </a:pPr>
            <a:r>
              <a:rPr lang="en-US" sz="10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file uploads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3451" y="3516957"/>
            <a:ext cx="38474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URL: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3451" y="3786783"/>
            <a:ext cx="38474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page.php?name=John&amp;email=john@mail.com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98950" y="815876"/>
            <a:ext cx="4191149" cy="3428107"/>
          </a:xfrm>
          <a:prstGeom prst="roundRect">
            <a:avLst>
              <a:gd name="adj" fmla="val 2964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08500" y="1025426"/>
            <a:ext cx="38474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Method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08500" y="1419076"/>
            <a:ext cx="3772049" cy="1018877"/>
          </a:xfrm>
          <a:prstGeom prst="roundRect">
            <a:avLst>
              <a:gd name="adj" fmla="val 4986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10001" y="1545878"/>
            <a:ext cx="36404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Advantages: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10001" y="1726853"/>
            <a:ext cx="3569047" cy="5715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buSzPct val="100000"/>
              <a:buChar char="•"/>
            </a:pPr>
            <a:r>
              <a:rPr lang="en-US" sz="10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not visible in URL</a:t>
            </a:r>
            <a:endParaRPr lang="en-US" sz="1000" dirty="0"/>
          </a:p>
          <a:p>
            <a:pPr algn="l" marL="95250" indent="-95250">
              <a:buSzPct val="100000"/>
              <a:buChar char="•"/>
            </a:pPr>
            <a:r>
              <a:rPr lang="en-US" sz="10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size limitations</a:t>
            </a:r>
            <a:endParaRPr lang="en-US" sz="1000" dirty="0"/>
          </a:p>
          <a:p>
            <a:pPr algn="l" marL="95250" indent="-95250">
              <a:buSzPct val="100000"/>
              <a:buChar char="•"/>
            </a:pPr>
            <a:r>
              <a:rPr lang="en-US" sz="10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file uploads</a:t>
            </a:r>
            <a:endParaRPr lang="en-US" sz="1000" dirty="0"/>
          </a:p>
          <a:p>
            <a:pPr algn="l" marL="95250" indent="-95250">
              <a:buSzPct val="100000"/>
              <a:buChar char="•"/>
            </a:pPr>
            <a:r>
              <a:rPr lang="en-US" sz="10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for passwords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08500" y="2539454"/>
            <a:ext cx="3772049" cy="876002"/>
          </a:xfrm>
          <a:prstGeom prst="roundRect">
            <a:avLst>
              <a:gd name="adj" fmla="val 5799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010001" y="2666256"/>
            <a:ext cx="36404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Limitations: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10001" y="2847231"/>
            <a:ext cx="3569047" cy="428625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buSzPct val="100000"/>
              <a:buChar char="•"/>
            </a:pPr>
            <a:r>
              <a:rPr lang="en-US" sz="10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bookmarkable</a:t>
            </a:r>
            <a:endParaRPr lang="en-US" sz="1000" dirty="0"/>
          </a:p>
          <a:p>
            <a:pPr algn="l" marL="95250" indent="-95250">
              <a:buSzPct val="100000"/>
              <a:buChar char="•"/>
            </a:pPr>
            <a:r>
              <a:rPr lang="en-US" sz="10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cached</a:t>
            </a:r>
            <a:endParaRPr lang="en-US" sz="1000" dirty="0"/>
          </a:p>
          <a:p>
            <a:pPr algn="l" marL="95250" indent="-95250">
              <a:buSzPct val="100000"/>
              <a:buChar char="•"/>
            </a:pPr>
            <a:r>
              <a:rPr lang="en-US" sz="10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browser history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08500" y="3516957"/>
            <a:ext cx="38474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for forms!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80892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6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Form Data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53901" y="815876"/>
            <a:ext cx="4191149" cy="1440656"/>
          </a:xfrm>
          <a:prstGeom prst="roundRect">
            <a:avLst>
              <a:gd name="adj" fmla="val 705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5826" y="977801"/>
            <a:ext cx="39446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Receiving GET Data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5826" y="1288852"/>
            <a:ext cx="3867299" cy="704255"/>
          </a:xfrm>
          <a:prstGeom prst="roundRect">
            <a:avLst>
              <a:gd name="adj" fmla="val 1082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7327" y="1415653"/>
            <a:ext cx="37375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$name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$_GET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7327" y="1574304"/>
            <a:ext cx="37375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$email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$_GET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17327" y="1732955"/>
            <a:ext cx="37375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"Hello, 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$name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98950" y="815876"/>
            <a:ext cx="4191149" cy="1440656"/>
          </a:xfrm>
          <a:prstGeom prst="roundRect">
            <a:avLst>
              <a:gd name="adj" fmla="val 705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60875" y="977801"/>
            <a:ext cx="39446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Receiving POST Data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60875" y="1288852"/>
            <a:ext cx="3867299" cy="704255"/>
          </a:xfrm>
          <a:prstGeom prst="roundRect">
            <a:avLst>
              <a:gd name="adj" fmla="val 1082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62376" y="1415653"/>
            <a:ext cx="37375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$name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$_POST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62376" y="1574304"/>
            <a:ext cx="37375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$email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$_POST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62376" y="1732955"/>
            <a:ext cx="37375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"Hello, 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$name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3901" y="2383482"/>
            <a:ext cx="8636198" cy="679252"/>
          </a:xfrm>
          <a:prstGeom prst="roundRect">
            <a:avLst>
              <a:gd name="adj" fmla="val 11218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99901" y="2529483"/>
            <a:ext cx="85110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DANGER:</a:t>
            </a:r>
            <a:pPr algn="l"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This code is vulnerable! Never trust user input.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9901" y="2764334"/>
            <a:ext cx="85110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validate and sanitize form data!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80892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6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Threats in Forms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53901" y="815876"/>
            <a:ext cx="4222849" cy="1139726"/>
          </a:xfrm>
          <a:prstGeom prst="roundRect">
            <a:avLst>
              <a:gd name="adj" fmla="val 8914"/>
            </a:avLst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25351" y="987326"/>
            <a:ext cx="39575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XSS (Cross-Site Scripting)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25351" y="1298377"/>
            <a:ext cx="39575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Injecting malicious scripts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25351" y="1517452"/>
            <a:ext cx="3879949" cy="266700"/>
          </a:xfrm>
          <a:prstGeom prst="roundRect">
            <a:avLst>
              <a:gd name="adj" fmla="val 19048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1551" y="1593652"/>
            <a:ext cx="3802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&lt;script&gt;alert('Hacked!')&lt;/script&gt;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667250" y="815876"/>
            <a:ext cx="4222849" cy="1139726"/>
          </a:xfrm>
          <a:prstGeom prst="roundRect">
            <a:avLst>
              <a:gd name="adj" fmla="val 8914"/>
            </a:avLst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38700" y="987326"/>
            <a:ext cx="39575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38700" y="1298377"/>
            <a:ext cx="39575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manipulation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38700" y="1517452"/>
            <a:ext cx="3879949" cy="266700"/>
          </a:xfrm>
          <a:prstGeom prst="roundRect">
            <a:avLst>
              <a:gd name="adj" fmla="val 19048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14900" y="1593652"/>
            <a:ext cx="3802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'; DROP TABLE users; --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3901" y="2146102"/>
            <a:ext cx="4222849" cy="1139726"/>
          </a:xfrm>
          <a:prstGeom prst="roundRect">
            <a:avLst>
              <a:gd name="adj" fmla="val 8914"/>
            </a:avLst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25351" y="2317552"/>
            <a:ext cx="39575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Spoofing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5351" y="2628602"/>
            <a:ext cx="39575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form submissions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5351" y="2847677"/>
            <a:ext cx="3879949" cy="266700"/>
          </a:xfrm>
          <a:prstGeom prst="roundRect">
            <a:avLst>
              <a:gd name="adj" fmla="val 19048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1551" y="2923877"/>
            <a:ext cx="3802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Automated bot attacks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67250" y="2146102"/>
            <a:ext cx="4222849" cy="1139726"/>
          </a:xfrm>
          <a:prstGeom prst="roundRect">
            <a:avLst>
              <a:gd name="adj" fmla="val 8914"/>
            </a:avLst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38700" y="2317552"/>
            <a:ext cx="39575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Manipulation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38700" y="2628602"/>
            <a:ext cx="39575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Altering expected values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38700" y="2847677"/>
            <a:ext cx="3879949" cy="266700"/>
          </a:xfrm>
          <a:prstGeom prst="roundRect">
            <a:avLst>
              <a:gd name="adj" fmla="val 19048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14900" y="2923877"/>
            <a:ext cx="3802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price=0.01 instead of 99.99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53901" y="3438227"/>
            <a:ext cx="8636198" cy="1263551"/>
          </a:xfrm>
          <a:prstGeom prst="roundRect">
            <a:avLst>
              <a:gd name="adj" fmla="val 8041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06301" y="3590627"/>
            <a:ext cx="84980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Protection Required!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06301" y="3901678"/>
            <a:ext cx="8331398" cy="60960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buSzPct val="100000"/>
              <a:buChar char="•"/>
            </a:pPr>
            <a:r>
              <a:rPr lang="en-US" sz="11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validate input</a:t>
            </a:r>
            <a:endParaRPr lang="en-US" sz="1100" dirty="0"/>
          </a:p>
          <a:p>
            <a:pPr algn="l" marL="127000" indent="-127000">
              <a:buSzPct val="100000"/>
              <a:buChar char="•"/>
            </a:pPr>
            <a:r>
              <a:rPr lang="en-US" sz="11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 data</a:t>
            </a:r>
            <a:endParaRPr lang="en-US" sz="1100" dirty="0"/>
          </a:p>
          <a:p>
            <a:pPr algn="l" marL="127000" indent="-127000">
              <a:buSzPct val="100000"/>
              <a:buChar char="•"/>
            </a:pPr>
            <a:r>
              <a:rPr lang="en-US" sz="11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htmlspecialchars()</a:t>
            </a:r>
            <a:endParaRPr lang="en-US" sz="1100" dirty="0"/>
          </a:p>
          <a:p>
            <a:pPr algn="l" marL="127000" indent="-127000">
              <a:buSzPct val="100000"/>
              <a:buChar char="•"/>
            </a:pPr>
            <a:r>
              <a:rPr lang="en-US" sz="11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Escape special characters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80892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6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Function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53901" y="815876"/>
            <a:ext cx="5029349" cy="1615380"/>
          </a:xfrm>
          <a:prstGeom prst="roundRect">
            <a:avLst>
              <a:gd name="adj" fmla="val 629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6301" y="968276"/>
            <a:ext cx="48190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Validation Function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06301" y="1269802"/>
            <a:ext cx="48190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test_input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$data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06301" y="1437977"/>
            <a:ext cx="48190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$data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$data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06301" y="1606153"/>
            <a:ext cx="48190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$data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stripslashes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$data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06301" y="1774329"/>
            <a:ext cx="48190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$data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htmlspecialchars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$data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6301" y="1942505"/>
            <a:ext cx="48190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$data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6301" y="2110680"/>
            <a:ext cx="48190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3901" y="2583656"/>
            <a:ext cx="5029349" cy="942677"/>
          </a:xfrm>
          <a:prstGeom prst="roundRect">
            <a:avLst>
              <a:gd name="adj" fmla="val 1077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06301" y="2736056"/>
            <a:ext cx="48190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6301" y="3037582"/>
            <a:ext cx="48190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$name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test_input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$_POST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["name"]);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06301" y="3205758"/>
            <a:ext cx="48190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$email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test_input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$_POST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["email"]);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37150" y="815876"/>
            <a:ext cx="3352949" cy="1529060"/>
          </a:xfrm>
          <a:prstGeom prst="roundRect">
            <a:avLst>
              <a:gd name="adj" fmla="val 66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699075" y="977801"/>
            <a:ext cx="30896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99075" y="1288852"/>
            <a:ext cx="3029099" cy="894159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760"/>
              </a:lnSpc>
              <a:buSzPct val="100000"/>
              <a:buChar char="•"/>
            </a:pPr>
            <a:r>
              <a:rPr lang="en-US" sz="11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trim():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Remove whitespace</a:t>
            </a:r>
            <a:endParaRPr lang="en-US" sz="1100" dirty="0"/>
          </a:p>
          <a:p>
            <a:pPr algn="l" marL="127000" indent="-127000">
              <a:lnSpc>
                <a:spcPts val="1760"/>
              </a:lnSpc>
              <a:buSzPct val="100000"/>
              <a:buChar char="•"/>
            </a:pPr>
            <a:r>
              <a:rPr lang="en-US" sz="11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stripslashes():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Remove backslashes</a:t>
            </a:r>
            <a:endParaRPr lang="en-US" sz="1100" dirty="0"/>
          </a:p>
          <a:p>
            <a:pPr algn="l" marL="127000" indent="-127000">
              <a:lnSpc>
                <a:spcPts val="1760"/>
              </a:lnSpc>
              <a:buSzPct val="100000"/>
              <a:buChar char="•"/>
            </a:pPr>
            <a:r>
              <a:rPr lang="en-US" sz="11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htmlspecialchars():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Convert special chars to HTML entities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Field Validation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28600" y="733425"/>
            <a:ext cx="8686800" cy="2500313"/>
          </a:xfrm>
          <a:prstGeom prst="roundRect">
            <a:avLst>
              <a:gd name="adj" fmla="val 406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5550" y="885676"/>
            <a:ext cx="86015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$nameErr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$emailErr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55550" y="1044327"/>
            <a:ext cx="86015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$_SERVER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"REQUEST_METHOD"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==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"POST"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55550" y="1202978"/>
            <a:ext cx="86015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(empty(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$_POST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])) {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55550" y="1361629"/>
            <a:ext cx="86015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$nameErr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 is required"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55550" y="1520279"/>
            <a:ext cx="86015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5550" y="1678930"/>
            <a:ext cx="86015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$name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test_input(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$_POST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55550" y="1837581"/>
            <a:ext cx="86015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5550" y="2154882"/>
            <a:ext cx="86015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(empty(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$_POST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])) {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5550" y="2313533"/>
            <a:ext cx="86015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$emailErr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 is required"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5550" y="2472184"/>
            <a:ext cx="86015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5550" y="2630835"/>
            <a:ext cx="86015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$email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test_input(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$_POST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5550" y="2789486"/>
            <a:ext cx="86015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5550" y="2948136"/>
            <a:ext cx="86015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" y="3386138"/>
            <a:ext cx="8686800" cy="968276"/>
          </a:xfrm>
          <a:prstGeom prst="roundRect">
            <a:avLst>
              <a:gd name="adj" fmla="val 104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90525" y="3548063"/>
            <a:ext cx="85302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Errors in Form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0525" y="3849588"/>
            <a:ext cx="85302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type="text" name="name"&gt;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90525" y="4021038"/>
            <a:ext cx="85302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&lt;span class="error"&gt;* &lt;?php echo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$nameErr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?&gt;&lt;/span&gt;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Validation Rules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28600" y="733425"/>
            <a:ext cx="4267200" cy="1193453"/>
          </a:xfrm>
          <a:prstGeom prst="roundRect">
            <a:avLst>
              <a:gd name="adj" fmla="val 638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65075" y="869900"/>
            <a:ext cx="40741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Validation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075" y="1117550"/>
            <a:ext cx="3994249" cy="672852"/>
          </a:xfrm>
          <a:prstGeom prst="roundRect">
            <a:avLst>
              <a:gd name="adj" fmla="val 755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41275" y="1206401"/>
            <a:ext cx="3918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preg_match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41275" y="1333351"/>
            <a:ext cx="3918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"/^[a-zA-Z-' ]*$/"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$name)) {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41275" y="1460302"/>
            <a:ext cx="3918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$nameErr = "Only letters &amp; spaces";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41275" y="1587252"/>
            <a:ext cx="3918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648200" y="733425"/>
            <a:ext cx="4267200" cy="1193453"/>
          </a:xfrm>
          <a:prstGeom prst="roundRect">
            <a:avLst>
              <a:gd name="adj" fmla="val 638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84675" y="869900"/>
            <a:ext cx="40741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Validation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84675" y="1117550"/>
            <a:ext cx="3994249" cy="672852"/>
          </a:xfrm>
          <a:prstGeom prst="roundRect">
            <a:avLst>
              <a:gd name="adj" fmla="val 755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60875" y="1206401"/>
            <a:ext cx="3918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filter_var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($email,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60875" y="1333351"/>
            <a:ext cx="3918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FILTER_VALIDATE_EMAIL)) {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60875" y="1460302"/>
            <a:ext cx="3918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$emailErr = "Invalid email";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60875" y="1587252"/>
            <a:ext cx="3918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28600" y="2079278"/>
            <a:ext cx="4267200" cy="1320403"/>
          </a:xfrm>
          <a:prstGeom prst="roundRect">
            <a:avLst>
              <a:gd name="adj" fmla="val 577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65075" y="2215753"/>
            <a:ext cx="40741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Validation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075" y="2463403"/>
            <a:ext cx="3994249" cy="799802"/>
          </a:xfrm>
          <a:prstGeom prst="roundRect">
            <a:avLst>
              <a:gd name="adj" fmla="val 635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41275" y="2552254"/>
            <a:ext cx="3918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preg_match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41275" y="2679204"/>
            <a:ext cx="3918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"/\b(?:https?|ftp):\/\//i"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41275" y="2806154"/>
            <a:ext cx="3918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$website)) {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41275" y="2933105"/>
            <a:ext cx="3918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$urlErr = "Invalid URL";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41275" y="3060055"/>
            <a:ext cx="3918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48200" y="2079278"/>
            <a:ext cx="4267200" cy="1320403"/>
          </a:xfrm>
          <a:prstGeom prst="roundRect">
            <a:avLst>
              <a:gd name="adj" fmla="val 577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84675" y="2215753"/>
            <a:ext cx="40741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Validation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84675" y="2463403"/>
            <a:ext cx="3994249" cy="672852"/>
          </a:xfrm>
          <a:prstGeom prst="roundRect">
            <a:avLst>
              <a:gd name="adj" fmla="val 755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60875" y="2552254"/>
            <a:ext cx="3918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preg_match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60875" y="2679204"/>
            <a:ext cx="3918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"/^[0-9]{10}$/"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$phone)) {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60875" y="2806154"/>
            <a:ext cx="3918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$phoneErr = "10 digits only";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60875" y="2933105"/>
            <a:ext cx="3918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28600" y="3526631"/>
            <a:ext cx="8686800" cy="396776"/>
          </a:xfrm>
          <a:prstGeom prst="roundRect">
            <a:avLst>
              <a:gd name="adj" fmla="val 19205"/>
            </a:avLst>
          </a:prstGeom>
          <a:solidFill>
            <a:srgbClr val="E0E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55550" y="3653582"/>
            <a:ext cx="8601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</a:t>
            </a:r>
            <a:pPr algn="l" indent="0" marL="0">
              <a:buNone/>
            </a:pPr>
            <a:r>
              <a:rPr lang="en-US" sz="1000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preg_match() for pattern matching and filter_var() for built-in validations.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93826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Secure Form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90500" y="669875"/>
            <a:ext cx="4260800" cy="2941737"/>
          </a:xfrm>
          <a:prstGeom prst="roundRect">
            <a:avLst>
              <a:gd name="adj" fmla="val 259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92001" y="771376"/>
            <a:ext cx="41389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Form Action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92001" y="999976"/>
            <a:ext cx="41389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92001" y="1117402"/>
            <a:ext cx="41389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Define variables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92001" y="1234827"/>
            <a:ext cx="41389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$name = $email = $gender = "";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92001" y="1352252"/>
            <a:ext cx="41389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$nameErr = $emailErr = $genderErr = "";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92001" y="1469678"/>
            <a:ext cx="41389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($_SERVER["REQUEST_METHOD"] == "POST") {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92001" y="1587103"/>
            <a:ext cx="41389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Validate name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92001" y="1704529"/>
            <a:ext cx="41389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(empty($_POST["name"])) {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92001" y="1821954"/>
            <a:ext cx="41389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$nameErr = "Required";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92001" y="1939379"/>
            <a:ext cx="41389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92001" y="2056805"/>
            <a:ext cx="41389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$name = test_input($_POST["name"]);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92001" y="2174230"/>
            <a:ext cx="41389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(!preg_match("/^[a-zA-Z ]*$/", $name)) {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92001" y="2291655"/>
            <a:ext cx="41389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$nameErr = "Letters only";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92001" y="2409081"/>
            <a:ext cx="41389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92001" y="2526506"/>
            <a:ext cx="41389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92001" y="2643932"/>
            <a:ext cx="41389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Similar for email...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92001" y="2761357"/>
            <a:ext cx="41389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92001" y="2878782"/>
            <a:ext cx="41389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?&gt;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92001" y="2996208"/>
            <a:ext cx="41389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method="post"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92001" y="3113633"/>
            <a:ext cx="41389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action="&lt;?php echo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92001" y="3231059"/>
            <a:ext cx="41389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htmlspecialchars($_SERVER['PHP_SELF']);?&gt;"&gt;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641800" y="669875"/>
            <a:ext cx="4311700" cy="2941737"/>
          </a:xfrm>
          <a:prstGeom prst="roundRect">
            <a:avLst>
              <a:gd name="adj" fmla="val 259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68751" y="796826"/>
            <a:ext cx="41389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Rules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68751" y="2647057"/>
            <a:ext cx="4057799" cy="837605"/>
          </a:xfrm>
          <a:prstGeom prst="roundRect">
            <a:avLst>
              <a:gd name="adj" fmla="val 6065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70252" y="2748558"/>
            <a:ext cx="39318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Features: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70252" y="2907209"/>
            <a:ext cx="39318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htmlspecialchars() for XSS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70252" y="3065859"/>
            <a:ext cx="39318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Validation for each field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70252" y="3224510"/>
            <a:ext cx="39318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Error messages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92720" y="764679"/>
            <a:ext cx="575855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Security Best Practices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951583" y="1485305"/>
            <a:ext cx="1645295" cy="1032421"/>
          </a:xfrm>
          <a:prstGeom prst="roundRect">
            <a:avLst>
              <a:gd name="adj" fmla="val 7381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103983" y="1637705"/>
            <a:ext cx="13673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Validate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103983" y="1885355"/>
            <a:ext cx="1340495" cy="479971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260"/>
              </a:lnSpc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validation</a:t>
            </a:r>
            <a:endParaRPr lang="en-US" sz="900" dirty="0"/>
          </a:p>
          <a:p>
            <a:pPr algn="l" marL="95250" indent="-95250">
              <a:lnSpc>
                <a:spcPts val="1260"/>
              </a:lnSpc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data types</a:t>
            </a:r>
            <a:endParaRPr lang="en-US" sz="900" dirty="0"/>
          </a:p>
          <a:p>
            <a:pPr algn="l" marL="95250" indent="-95250">
              <a:lnSpc>
                <a:spcPts val="1260"/>
              </a:lnSpc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ranges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749278" y="1485305"/>
            <a:ext cx="1645295" cy="1032421"/>
          </a:xfrm>
          <a:prstGeom prst="roundRect">
            <a:avLst>
              <a:gd name="adj" fmla="val 7381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901678" y="1637705"/>
            <a:ext cx="13673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 Input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01678" y="1885355"/>
            <a:ext cx="1340495" cy="479971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260"/>
              </a:lnSpc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htmlspecialchars()</a:t>
            </a:r>
            <a:endParaRPr lang="en-US" sz="900" dirty="0"/>
          </a:p>
          <a:p>
            <a:pPr algn="l" marL="95250" indent="-95250">
              <a:lnSpc>
                <a:spcPts val="1260"/>
              </a:lnSpc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strip_tags()</a:t>
            </a:r>
            <a:endParaRPr lang="en-US" sz="900" dirty="0"/>
          </a:p>
          <a:p>
            <a:pPr algn="l" marL="95250" indent="-95250">
              <a:lnSpc>
                <a:spcPts val="1260"/>
              </a:lnSpc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trim() spaces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546973" y="1485305"/>
            <a:ext cx="1645295" cy="1032421"/>
          </a:xfrm>
          <a:prstGeom prst="roundRect">
            <a:avLst>
              <a:gd name="adj" fmla="val 7381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699373" y="1637705"/>
            <a:ext cx="13673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POST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99373" y="1885355"/>
            <a:ext cx="1340495" cy="479971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260"/>
              </a:lnSpc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sensitive data</a:t>
            </a:r>
            <a:endParaRPr lang="en-US" sz="900" dirty="0"/>
          </a:p>
          <a:p>
            <a:pPr algn="l" marL="95250" indent="-95250">
              <a:lnSpc>
                <a:spcPts val="1260"/>
              </a:lnSpc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passwords</a:t>
            </a:r>
            <a:endParaRPr lang="en-US" sz="900" dirty="0"/>
          </a:p>
          <a:p>
            <a:pPr algn="l" marL="95250" indent="-95250">
              <a:lnSpc>
                <a:spcPts val="1260"/>
              </a:lnSpc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large data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51583" y="2670125"/>
            <a:ext cx="1645295" cy="1032421"/>
          </a:xfrm>
          <a:prstGeom prst="roundRect">
            <a:avLst>
              <a:gd name="adj" fmla="val 7381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103983" y="2822525"/>
            <a:ext cx="13673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03983" y="3070175"/>
            <a:ext cx="1340495" cy="479971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260"/>
              </a:lnSpc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messages</a:t>
            </a:r>
            <a:endParaRPr lang="en-US" sz="900" dirty="0"/>
          </a:p>
          <a:p>
            <a:pPr algn="l" marL="95250" indent="-95250">
              <a:lnSpc>
                <a:spcPts val="1260"/>
              </a:lnSpc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User-friendly</a:t>
            </a:r>
            <a:endParaRPr lang="en-US" sz="900" dirty="0"/>
          </a:p>
          <a:p>
            <a:pPr algn="l" marL="95250" indent="-95250">
              <a:lnSpc>
                <a:spcPts val="1260"/>
              </a:lnSpc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errors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749278" y="2670125"/>
            <a:ext cx="1645295" cy="1032421"/>
          </a:xfrm>
          <a:prstGeom prst="roundRect">
            <a:avLst>
              <a:gd name="adj" fmla="val 7381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901678" y="2822525"/>
            <a:ext cx="13673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CSRF Protection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01678" y="3070175"/>
            <a:ext cx="1340495" cy="479971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260"/>
              </a:lnSpc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tokens</a:t>
            </a:r>
            <a:endParaRPr lang="en-US" sz="900" dirty="0"/>
          </a:p>
          <a:p>
            <a:pPr algn="l" marL="95250" indent="-95250">
              <a:lnSpc>
                <a:spcPts val="1260"/>
              </a:lnSpc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referrer</a:t>
            </a:r>
            <a:endParaRPr lang="en-US" sz="900" dirty="0"/>
          </a:p>
          <a:p>
            <a:pPr algn="l" marL="95250" indent="-95250">
              <a:lnSpc>
                <a:spcPts val="1260"/>
              </a:lnSpc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checks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546973" y="2670125"/>
            <a:ext cx="1645295" cy="1032421"/>
          </a:xfrm>
          <a:prstGeom prst="roundRect">
            <a:avLst>
              <a:gd name="adj" fmla="val 7381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699373" y="2822525"/>
            <a:ext cx="13673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Safety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99373" y="3070175"/>
            <a:ext cx="1340495" cy="479971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260"/>
              </a:lnSpc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statements</a:t>
            </a:r>
            <a:endParaRPr lang="en-US" sz="900" dirty="0"/>
          </a:p>
          <a:p>
            <a:pPr algn="l" marL="95250" indent="-95250">
              <a:lnSpc>
                <a:spcPts val="1260"/>
              </a:lnSpc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Parameterized queries</a:t>
            </a:r>
            <a:endParaRPr lang="en-US" sz="900" dirty="0"/>
          </a:p>
          <a:p>
            <a:pPr algn="l" marL="95250" indent="-95250">
              <a:lnSpc>
                <a:spcPts val="1260"/>
              </a:lnSpc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Escape strings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955750" y="3893046"/>
            <a:ext cx="5232350" cy="485775"/>
          </a:xfrm>
          <a:prstGeom prst="roundRect">
            <a:avLst>
              <a:gd name="adj" fmla="val 15686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058875" y="4045446"/>
            <a:ext cx="502610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Remember: Never trust user input - Always validate and sanitize!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 Forms - Complete Guide</dc:title>
  <dc:subject>PptxGenJS Presentation</dc:subject>
  <dc:creator>W3Schools PHP Tutorial</dc:creator>
  <cp:lastModifiedBy>W3Schools PHP Tutorial</cp:lastModifiedBy>
  <cp:revision>1</cp:revision>
  <dcterms:created xsi:type="dcterms:W3CDTF">2025-09-29T07:14:15Z</dcterms:created>
  <dcterms:modified xsi:type="dcterms:W3CDTF">2025-09-29T07:14:15Z</dcterms:modified>
</cp:coreProperties>
</file>